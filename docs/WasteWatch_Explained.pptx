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tory" id="{39234b2e-45e6-c5dd-d5e2-53e98578cfcd}">
          <p14:sldIdLst>
            <p14:sldId id="256"/>
            <p14:sldId id="257"/>
          </p14:sldIdLst>
        </p14:section>
        <p14:section name="Idea" id="{6f7a0777-2dde-470d-39fc-9e53881fdc22}">
          <p14:sldIdLst>
            <p14:sldId id="258"/>
          </p14:sldIdLst>
        </p14:section>
        <p14:section name="How it works" id="{733808f8-aeba-d73e-1c23-b8f865a90b0d}">
          <p14:sldIdLst>
            <p14:sldId id="259"/>
            <p14:sldId id="260"/>
          </p14:sldIdLst>
        </p14:section>
        <p14:section name="Tech" id="{e9f11b30-7744-acfa-f5c7-88132da25526}">
          <p14:sldIdLst>
            <p14:sldId id="261"/>
          </p14:sldIdLst>
        </p14:section>
        <p14:section name="Wrap-up" id="{8e8f5fce-3391-aa97-ddea-08542eba609b}">
          <p14:sldIdLst>
            <p14:sldId id="26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WasteWatch predicts which small parts of a city ward will become garbage spots in the next two days, so the cleaning team can go early instead of after complaints.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Tell it like a story. Sunday the market creates waste. Monday the truck misses the lane. Tuesday rain makes it worse. Wednesday someone complains and the team arrives too late. The pattern was predictable from Sunday itself. That is the gap WasteWatch fills.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idea is simple: instead of waiting for complaints, the system looks at patterns and tells the officer which blocks will become dirty in the next 48 hours. The map is split into 100 metre blocks so a team knows exactly where to 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four roles. A citizen reports with photo and GPS. Each day the model scores all blocks. The officer opens the map, sees the priority list and assigns a team. The worker cleans, uploads the after photo and marks it cleared. Clearing resets the block and its risk drops immediately.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model reads six simple facts about each block. It learned from a year of sample history which combinations lead to a garbage pile. It outputs a percentage, and SHAP tells us which facts pushed that percentage up, so the officer sees reasons in plain words, not just a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is what users see: React pages with a Leaflet map using free OpenStreetMap tiles. They talk to the Django server through REST APIs. The server stores everything in SQLite, uses the trained scikit-learn model and SHAP for predictions and reasons, and fetches rain from Open-Meteo. The photo checker is a placeholder for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what is working and what is honestly not done yet. The data is synthetic, so the model shows the method, not real-world accuracy. Next steps are real ward data, a real photo detector, and deploying online.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8046720" cy="1005840"/>
          </a:xfrm>
          <a:prstGeom prst="rect">
            <a:avLst/>
          </a:prstGeom>
          <a:noFill/>
          <a:ln/>
        </p:spPr>
        <p:txBody>
          <a:bodyPr wrap="square" rtlCol="0"/>
          <a:lstStyle>
            <a:lvl1pPr algn="l" indent="0" marL="0">
              <a:buNone/>
              <a:defRPr lang="en-US" sz="4400" b="1" dirty="0">
                <a:solidFill>
                  <a:schemeClr val="bg2"/>
                </a:solidFill>
                <a:latin typeface="Cambria" pitchFamily="34" charset="0"/>
                <a:ea typeface="Cambria" pitchFamily="34" charset="-122"/>
                <a:cs typeface="Cambria" pitchFamily="34" charset="-120"/>
              </a:defRPr>
            </a:lvl1pPr>
          </a:lstStyle>
          <a:p>
            <a:pPr algn="l" indent="0" marL="0">
              <a:buNone/>
            </a:pPr>
            <a:endParaRPr lang="en-US" sz="4400" dirty="0"/>
          </a:p>
        </p:txBody>
      </p:sp>
      <p:sp>
        <p:nvSpPr>
          <p:cNvPr id="3" name="Text 0"/>
          <p:cNvSpPr/>
          <p:nvPr>
            <p:ph idx="101" type="body" hasCustomPrompt="1"/>
          </p:nvPr>
        </p:nvSpPr>
        <p:spPr>
          <a:xfrm>
            <a:off x="548640" y="2560320"/>
            <a:ext cx="8046720" cy="914400"/>
          </a:xfrm>
          <a:prstGeom prst="rect">
            <a:avLst/>
          </a:prstGeom>
          <a:noFill/>
          <a:ln/>
        </p:spPr>
        <p:txBody>
          <a:bodyPr wrap="square" rtlCol="0"/>
          <a:lstStyle>
            <a:lvl1pPr indent="0" marL="0">
              <a:buNone/>
              <a:defRPr lang="en-US" sz="1800" dirty="0">
                <a:solidFill>
                  <a:schemeClr val="accent5"/>
                </a:solidFill>
              </a:defRPr>
            </a:lvl1pPr>
          </a:lstStyle>
          <a:p>
            <a:pP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only">
    <p:bg>
      <p:bgPr>
        <a:solidFill>
          <a:schemeClr val="bg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lstStyle>
            <a:lvl1pPr indent="0" marL="0">
              <a:buNone/>
              <a:defRPr lang="en-US" sz="3200" b="1" dirty="0">
                <a:solidFill>
                  <a:schemeClr val="tx1"/>
                </a:solidFill>
                <a:latin typeface="Cambria" pitchFamily="34" charset="0"/>
                <a:ea typeface="Cambria" pitchFamily="34" charset="-122"/>
                <a:cs typeface="Cambria" pitchFamily="34" charset="-120"/>
              </a:defRPr>
            </a:lvl1pPr>
          </a:lstStyle>
          <a:p>
            <a:pPr indent="0" marL="0">
              <a:buNone/>
            </a:pPr>
            <a:endParaRPr lang="en-US" sz="3200" dirty="0"/>
          </a:p>
        </p:txBody>
      </p:sp>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 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lstStyle>
            <a:lvl1pPr indent="0" marL="0">
              <a:buNone/>
              <a:defRPr lang="en-US" sz="3200" b="1" dirty="0">
                <a:solidFill>
                  <a:schemeClr val="bg2"/>
                </a:solidFill>
                <a:latin typeface="Cambria" pitchFamily="34" charset="0"/>
                <a:ea typeface="Cambria" pitchFamily="34" charset="-122"/>
                <a:cs typeface="Cambria" pitchFamily="34" charset="-120"/>
              </a:defRPr>
            </a:lvl1pPr>
          </a:lstStyle>
          <a:p>
            <a:pPr indent="0" marL="0">
              <a:buNone/>
            </a:pPr>
            <a:endParaRPr lang="en-US" sz="32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3.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3.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slideLayout" Target="../slideLayouts/slideLayout3.xml"/><Relationship Id="rId9"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3.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4.xml"/><Relationship Id="rId4"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8046720" cy="1005840"/>
          </a:xfrm>
          <a:prstGeom prst="rect">
            <a:avLst/>
          </a:prstGeom>
          <a:noFill/>
          <a:ln/>
        </p:spPr>
        <p:txBody>
          <a:bodyPr wrap="square" lIns="0" tIns="0" rIns="0" bIns="0" rtlCol="0" anchor="b"/>
          <a:lstStyle/>
          <a:p>
            <a:pPr algn="l" indent="0" marL="0">
              <a:buNone/>
            </a:pPr>
            <a:r>
              <a:rPr lang="en-US" sz="4400" b="1" dirty="0">
                <a:solidFill>
                  <a:schemeClr val="bg2"/>
                </a:solidFill>
                <a:latin typeface="Cambria" pitchFamily="34" charset="0"/>
                <a:ea typeface="Cambria" pitchFamily="34" charset="-122"/>
                <a:cs typeface="Cambria" pitchFamily="34" charset="-120"/>
              </a:rPr>
              <a:t>WasteWatch</a:t>
            </a:r>
            <a:endParaRPr lang="en-US" sz="4400" dirty="0"/>
          </a:p>
        </p:txBody>
      </p:sp>
      <p:sp>
        <p:nvSpPr>
          <p:cNvPr id="3" name="Text 0"/>
          <p:cNvSpPr/>
          <p:nvPr>
            <p:ph idx="101" type="body" hasCustomPrompt="1"/>
          </p:nvPr>
        </p:nvSpPr>
        <p:spPr>
          <a:xfrm>
            <a:off x="548640" y="2560320"/>
            <a:ext cx="8046720" cy="914400"/>
          </a:xfrm>
          <a:prstGeom prst="rect">
            <a:avLst/>
          </a:prstGeom>
          <a:noFill/>
          <a:ln/>
        </p:spPr>
        <p:txBody>
          <a:bodyPr wrap="square" lIns="0" tIns="0" rIns="0" bIns="0" rtlCol="0" anchor="t"/>
          <a:lstStyle/>
          <a:p>
            <a:pPr indent="0" marL="0">
              <a:buNone/>
            </a:pPr>
            <a:r>
              <a:rPr lang="en-US" sz="1800" dirty="0">
                <a:solidFill>
                  <a:schemeClr val="accent5"/>
                </a:solidFill>
              </a:rPr>
              <a:t>Clean the block before it becomes a garbage dump.</a:t>
            </a:r>
            <a:endParaRPr lang="en-US" sz="1800" dirty="0"/>
          </a:p>
          <a:p>
            <a:pPr indent="0" marL="0">
              <a:buNone/>
            </a:pPr>
            <a:r>
              <a:rPr lang="en-US" sz="1800" dirty="0">
                <a:solidFill>
                  <a:schemeClr val="accent5"/>
                </a:solidFill>
              </a:rPr>
              <a:t>A story of one ward in Bhavnagar.</a:t>
            </a:r>
            <a:endParaRPr lang="en-US" sz="1800" dirty="0"/>
          </a:p>
        </p:txBody>
      </p:sp>
      <p:pic>
        <p:nvPicPr>
          <p:cNvPr id="4" name="Broom icon" descr="preencoded.png">    </p:cNvPr>
          <p:cNvPicPr>
            <a:picLocks noChangeAspect="1"/>
          </p:cNvPicPr>
          <p:nvPr/>
        </p:nvPicPr>
        <p:blipFill>
          <a:blip r:embed="rId1"/>
          <a:stretch>
            <a:fillRect/>
          </a:stretch>
        </p:blipFill>
        <p:spPr>
          <a:xfrm>
            <a:off x="548640" y="640080"/>
            <a:ext cx="640080" cy="64008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200" b="1" dirty="0">
                <a:solidFill>
                  <a:schemeClr val="tx1"/>
                </a:solidFill>
                <a:latin typeface="Cambria" pitchFamily="34" charset="0"/>
                <a:ea typeface="Cambria" pitchFamily="34" charset="-122"/>
                <a:cs typeface="Cambria" pitchFamily="34" charset="-120"/>
              </a:rPr>
              <a:t>Meet Ward 7: one week, one garbage pile</a:t>
            </a:r>
            <a:endParaRPr lang="en-US" sz="3200" dirty="0"/>
          </a:p>
        </p:txBody>
      </p:sp>
      <p:sp>
        <p:nvSpPr>
          <p:cNvPr id="3" name="Sunday card"/>
          <p:cNvSpPr/>
          <p:nvPr/>
        </p:nvSpPr>
        <p:spPr>
          <a:xfrm>
            <a:off x="457200" y="1188720"/>
            <a:ext cx="1874520" cy="2514600"/>
          </a:xfrm>
          <a:prstGeom prst="roundRect">
            <a:avLst>
              <a:gd name="adj" fmla="val 5854"/>
            </a:avLst>
          </a:prstGeom>
          <a:solidFill>
            <a:schemeClr val="bg1"/>
          </a:solidFill>
          <a:ln w="12700">
            <a:solidFill>
              <a:schemeClr val="bg1"/>
            </a:solidFill>
            <a:prstDash val="solid"/>
          </a:ln>
          <a:effectLst>
            <a:outerShdw sx="100000" sy="100000" kx="0" ky="0" algn="bl" rotWithShape="0" blurRad="76200" dist="25400" dir="5400000">
              <a:srgbClr val="8A7564">
                <a:alpha val="18000"/>
              </a:srgbClr>
            </a:outerShdw>
          </a:effectLst>
        </p:spPr>
      </p:sp>
      <p:sp>
        <p:nvSpPr>
          <p:cNvPr id="4" name="Sunday circle"/>
          <p:cNvSpPr/>
          <p:nvPr/>
        </p:nvSpPr>
        <p:spPr>
          <a:xfrm>
            <a:off x="640080" y="1371600"/>
            <a:ext cx="548640" cy="548640"/>
          </a:xfrm>
          <a:prstGeom prst="ellipse">
            <a:avLst/>
          </a:prstGeom>
          <a:solidFill>
            <a:schemeClr val="accent1"/>
          </a:solidFill>
          <a:ln w="12700">
            <a:solidFill>
              <a:schemeClr val="accent1"/>
            </a:solidFill>
            <a:prstDash val="solid"/>
          </a:ln>
        </p:spPr>
      </p:sp>
      <p:pic>
        <p:nvPicPr>
          <p:cNvPr id="5" name="Sunday icon" descr="preencoded.png">    </p:cNvPr>
          <p:cNvPicPr>
            <a:picLocks noChangeAspect="1"/>
          </p:cNvPicPr>
          <p:nvPr/>
        </p:nvPicPr>
        <p:blipFill>
          <a:blip r:embed="rId1"/>
          <a:stretch>
            <a:fillRect/>
          </a:stretch>
        </p:blipFill>
        <p:spPr>
          <a:xfrm>
            <a:off x="777240" y="1508760"/>
            <a:ext cx="274320" cy="274320"/>
          </a:xfrm>
          <a:prstGeom prst="rect">
            <a:avLst/>
          </a:prstGeom>
        </p:spPr>
      </p:pic>
      <p:sp>
        <p:nvSpPr>
          <p:cNvPr id="6" name="Text 3"/>
          <p:cNvSpPr txBox="1"/>
          <p:nvPr/>
        </p:nvSpPr>
        <p:spPr>
          <a:xfrm>
            <a:off x="1325880" y="1481328"/>
            <a:ext cx="914400" cy="320040"/>
          </a:xfrm>
          <a:prstGeom prst="rect">
            <a:avLst/>
          </a:prstGeom>
          <a:noFill/>
          <a:ln/>
        </p:spPr>
        <p:txBody>
          <a:bodyPr wrap="square" lIns="0" tIns="0" rIns="0" bIns="0" rtlCol="0" anchor="t"/>
          <a:lstStyle/>
          <a:p>
            <a:pPr indent="0" marL="0">
              <a:buNone/>
            </a:pPr>
            <a:r>
              <a:rPr lang="en-US" sz="1100" b="1" spc="100" kern="0" dirty="0">
                <a:solidFill>
                  <a:schemeClr val="accent6"/>
                </a:solidFill>
              </a:rPr>
              <a:t>SUNDAY</a:t>
            </a:r>
            <a:endParaRPr lang="en-US" sz="1100" dirty="0"/>
          </a:p>
        </p:txBody>
      </p:sp>
      <p:sp>
        <p:nvSpPr>
          <p:cNvPr id="7" name="Text 4"/>
          <p:cNvSpPr txBox="1"/>
          <p:nvPr/>
        </p:nvSpPr>
        <p:spPr>
          <a:xfrm>
            <a:off x="640080" y="2057400"/>
            <a:ext cx="1554480" cy="365760"/>
          </a:xfrm>
          <a:prstGeom prst="rect">
            <a:avLst/>
          </a:prstGeom>
          <a:noFill/>
          <a:ln/>
        </p:spPr>
        <p:txBody>
          <a:bodyPr wrap="square" lIns="0" tIns="0" rIns="0" bIns="0" rtlCol="0" anchor="t"/>
          <a:lstStyle/>
          <a:p>
            <a:pPr indent="0" marL="0">
              <a:buNone/>
            </a:pPr>
            <a:r>
              <a:rPr lang="en-US" sz="1700" b="1" dirty="0">
                <a:solidFill>
                  <a:schemeClr val="tx1"/>
                </a:solidFill>
                <a:latin typeface="Cambria" pitchFamily="34" charset="0"/>
                <a:ea typeface="Cambria" pitchFamily="34" charset="-122"/>
                <a:cs typeface="Cambria" pitchFamily="34" charset="-120"/>
              </a:rPr>
              <a:t>Weekly market</a:t>
            </a:r>
            <a:endParaRPr lang="en-US" sz="1700" dirty="0"/>
          </a:p>
        </p:txBody>
      </p:sp>
      <p:sp>
        <p:nvSpPr>
          <p:cNvPr id="8" name="Text 5"/>
          <p:cNvSpPr txBox="1"/>
          <p:nvPr/>
        </p:nvSpPr>
        <p:spPr>
          <a:xfrm>
            <a:off x="640080" y="2468880"/>
            <a:ext cx="1554480" cy="1143000"/>
          </a:xfrm>
          <a:prstGeom prst="rect">
            <a:avLst/>
          </a:prstGeom>
          <a:noFill/>
          <a:ln/>
        </p:spPr>
        <p:txBody>
          <a:bodyPr wrap="square" lIns="0" tIns="0" rIns="0" bIns="0" rtlCol="0" anchor="t"/>
          <a:lstStyle/>
          <a:p>
            <a:pPr indent="0" marL="0">
              <a:buNone/>
            </a:pPr>
            <a:r>
              <a:rPr lang="en-US" sz="1400" dirty="0">
                <a:solidFill>
                  <a:schemeClr val="tx2"/>
                </a:solidFill>
              </a:rPr>
              <a:t>Vendors leave crates of vegetable waste near the market lane.</a:t>
            </a:r>
            <a:endParaRPr lang="en-US" sz="1400" dirty="0"/>
          </a:p>
        </p:txBody>
      </p:sp>
      <p:sp>
        <p:nvSpPr>
          <p:cNvPr id="9" name="Monday card"/>
          <p:cNvSpPr/>
          <p:nvPr/>
        </p:nvSpPr>
        <p:spPr>
          <a:xfrm>
            <a:off x="2560320" y="1188720"/>
            <a:ext cx="1874520" cy="2514600"/>
          </a:xfrm>
          <a:prstGeom prst="roundRect">
            <a:avLst>
              <a:gd name="adj" fmla="val 5854"/>
            </a:avLst>
          </a:prstGeom>
          <a:solidFill>
            <a:schemeClr val="bg1"/>
          </a:solidFill>
          <a:ln w="12700">
            <a:solidFill>
              <a:schemeClr val="bg1"/>
            </a:solidFill>
            <a:prstDash val="solid"/>
          </a:ln>
          <a:effectLst>
            <a:outerShdw sx="100000" sy="100000" kx="0" ky="0" algn="bl" rotWithShape="0" blurRad="76200" dist="25400" dir="5400000">
              <a:srgbClr val="8A7564">
                <a:alpha val="18000"/>
              </a:srgbClr>
            </a:outerShdw>
          </a:effectLst>
        </p:spPr>
      </p:sp>
      <p:sp>
        <p:nvSpPr>
          <p:cNvPr id="10" name="Monday circle"/>
          <p:cNvSpPr/>
          <p:nvPr/>
        </p:nvSpPr>
        <p:spPr>
          <a:xfrm>
            <a:off x="2743200" y="1371600"/>
            <a:ext cx="548640" cy="548640"/>
          </a:xfrm>
          <a:prstGeom prst="ellipse">
            <a:avLst/>
          </a:prstGeom>
          <a:solidFill>
            <a:schemeClr val="accent1"/>
          </a:solidFill>
          <a:ln w="12700">
            <a:solidFill>
              <a:schemeClr val="accent1"/>
            </a:solidFill>
            <a:prstDash val="solid"/>
          </a:ln>
        </p:spPr>
      </p:sp>
      <p:pic>
        <p:nvPicPr>
          <p:cNvPr id="11" name="Monday icon" descr="preencoded.png">    </p:cNvPr>
          <p:cNvPicPr>
            <a:picLocks noChangeAspect="1"/>
          </p:cNvPicPr>
          <p:nvPr/>
        </p:nvPicPr>
        <p:blipFill>
          <a:blip r:embed="rId2"/>
          <a:stretch>
            <a:fillRect/>
          </a:stretch>
        </p:blipFill>
        <p:spPr>
          <a:xfrm>
            <a:off x="2880360" y="1508760"/>
            <a:ext cx="274320" cy="274320"/>
          </a:xfrm>
          <a:prstGeom prst="rect">
            <a:avLst/>
          </a:prstGeom>
        </p:spPr>
      </p:pic>
      <p:sp>
        <p:nvSpPr>
          <p:cNvPr id="12" name="Text 8"/>
          <p:cNvSpPr txBox="1"/>
          <p:nvPr/>
        </p:nvSpPr>
        <p:spPr>
          <a:xfrm>
            <a:off x="3429000" y="1481328"/>
            <a:ext cx="914400" cy="320040"/>
          </a:xfrm>
          <a:prstGeom prst="rect">
            <a:avLst/>
          </a:prstGeom>
          <a:noFill/>
          <a:ln/>
        </p:spPr>
        <p:txBody>
          <a:bodyPr wrap="square" lIns="0" tIns="0" rIns="0" bIns="0" rtlCol="0" anchor="t"/>
          <a:lstStyle/>
          <a:p>
            <a:pPr indent="0" marL="0">
              <a:buNone/>
            </a:pPr>
            <a:r>
              <a:rPr lang="en-US" sz="1100" b="1" spc="100" kern="0" dirty="0">
                <a:solidFill>
                  <a:schemeClr val="accent6"/>
                </a:solidFill>
              </a:rPr>
              <a:t>MONDAY</a:t>
            </a:r>
            <a:endParaRPr lang="en-US" sz="1100" dirty="0"/>
          </a:p>
        </p:txBody>
      </p:sp>
      <p:sp>
        <p:nvSpPr>
          <p:cNvPr id="13" name="Text 9"/>
          <p:cNvSpPr txBox="1"/>
          <p:nvPr/>
        </p:nvSpPr>
        <p:spPr>
          <a:xfrm>
            <a:off x="2743200" y="2057400"/>
            <a:ext cx="1554480" cy="365760"/>
          </a:xfrm>
          <a:prstGeom prst="rect">
            <a:avLst/>
          </a:prstGeom>
          <a:noFill/>
          <a:ln/>
        </p:spPr>
        <p:txBody>
          <a:bodyPr wrap="square" lIns="0" tIns="0" rIns="0" bIns="0" rtlCol="0" anchor="t"/>
          <a:lstStyle/>
          <a:p>
            <a:pPr indent="0" marL="0">
              <a:buNone/>
            </a:pPr>
            <a:r>
              <a:rPr lang="en-US" sz="1700" b="1" dirty="0">
                <a:solidFill>
                  <a:schemeClr val="tx1"/>
                </a:solidFill>
                <a:latin typeface="Cambria" pitchFamily="34" charset="0"/>
                <a:ea typeface="Cambria" pitchFamily="34" charset="-122"/>
                <a:cs typeface="Cambria" pitchFamily="34" charset="-120"/>
              </a:rPr>
              <a:t>Pickup missed</a:t>
            </a:r>
            <a:endParaRPr lang="en-US" sz="1700" dirty="0"/>
          </a:p>
        </p:txBody>
      </p:sp>
      <p:sp>
        <p:nvSpPr>
          <p:cNvPr id="14" name="Text 10"/>
          <p:cNvSpPr txBox="1"/>
          <p:nvPr/>
        </p:nvSpPr>
        <p:spPr>
          <a:xfrm>
            <a:off x="2743200" y="2468880"/>
            <a:ext cx="1554480" cy="1143000"/>
          </a:xfrm>
          <a:prstGeom prst="rect">
            <a:avLst/>
          </a:prstGeom>
          <a:noFill/>
          <a:ln/>
        </p:spPr>
        <p:txBody>
          <a:bodyPr wrap="square" lIns="0" tIns="0" rIns="0" bIns="0" rtlCol="0" anchor="t"/>
          <a:lstStyle/>
          <a:p>
            <a:pPr indent="0" marL="0">
              <a:buNone/>
            </a:pPr>
            <a:r>
              <a:rPr lang="en-US" sz="1400" dirty="0">
                <a:solidFill>
                  <a:schemeClr val="tx2"/>
                </a:solidFill>
              </a:rPr>
              <a:t>The garbage truck skips the lane. Waste sits one more day.</a:t>
            </a:r>
            <a:endParaRPr lang="en-US" sz="1400" dirty="0"/>
          </a:p>
        </p:txBody>
      </p:sp>
      <p:sp>
        <p:nvSpPr>
          <p:cNvPr id="15" name="Tuesday card"/>
          <p:cNvSpPr/>
          <p:nvPr/>
        </p:nvSpPr>
        <p:spPr>
          <a:xfrm>
            <a:off x="4663440" y="1188720"/>
            <a:ext cx="1874520" cy="2514600"/>
          </a:xfrm>
          <a:prstGeom prst="roundRect">
            <a:avLst>
              <a:gd name="adj" fmla="val 5854"/>
            </a:avLst>
          </a:prstGeom>
          <a:solidFill>
            <a:schemeClr val="bg1"/>
          </a:solidFill>
          <a:ln w="12700">
            <a:solidFill>
              <a:schemeClr val="bg1"/>
            </a:solidFill>
            <a:prstDash val="solid"/>
          </a:ln>
          <a:effectLst>
            <a:outerShdw sx="100000" sy="100000" kx="0" ky="0" algn="bl" rotWithShape="0" blurRad="76200" dist="25400" dir="5400000">
              <a:srgbClr val="8A7564">
                <a:alpha val="18000"/>
              </a:srgbClr>
            </a:outerShdw>
          </a:effectLst>
        </p:spPr>
      </p:sp>
      <p:sp>
        <p:nvSpPr>
          <p:cNvPr id="16" name="Tuesday circle"/>
          <p:cNvSpPr/>
          <p:nvPr/>
        </p:nvSpPr>
        <p:spPr>
          <a:xfrm>
            <a:off x="4846320" y="1371600"/>
            <a:ext cx="548640" cy="548640"/>
          </a:xfrm>
          <a:prstGeom prst="ellipse">
            <a:avLst/>
          </a:prstGeom>
          <a:solidFill>
            <a:schemeClr val="accent1"/>
          </a:solidFill>
          <a:ln w="12700">
            <a:solidFill>
              <a:schemeClr val="accent1"/>
            </a:solidFill>
            <a:prstDash val="solid"/>
          </a:ln>
        </p:spPr>
      </p:sp>
      <p:pic>
        <p:nvPicPr>
          <p:cNvPr id="17" name="Tuesday icon" descr="preencoded.png">    </p:cNvPr>
          <p:cNvPicPr>
            <a:picLocks noChangeAspect="1"/>
          </p:cNvPicPr>
          <p:nvPr/>
        </p:nvPicPr>
        <p:blipFill>
          <a:blip r:embed="rId3"/>
          <a:stretch>
            <a:fillRect/>
          </a:stretch>
        </p:blipFill>
        <p:spPr>
          <a:xfrm>
            <a:off x="4983480" y="1508760"/>
            <a:ext cx="274320" cy="274320"/>
          </a:xfrm>
          <a:prstGeom prst="rect">
            <a:avLst/>
          </a:prstGeom>
        </p:spPr>
      </p:pic>
      <p:sp>
        <p:nvSpPr>
          <p:cNvPr id="18" name="Text 13"/>
          <p:cNvSpPr txBox="1"/>
          <p:nvPr/>
        </p:nvSpPr>
        <p:spPr>
          <a:xfrm>
            <a:off x="5532120" y="1481328"/>
            <a:ext cx="914400" cy="320040"/>
          </a:xfrm>
          <a:prstGeom prst="rect">
            <a:avLst/>
          </a:prstGeom>
          <a:noFill/>
          <a:ln/>
        </p:spPr>
        <p:txBody>
          <a:bodyPr wrap="square" lIns="0" tIns="0" rIns="0" bIns="0" rtlCol="0" anchor="t"/>
          <a:lstStyle/>
          <a:p>
            <a:pPr indent="0" marL="0">
              <a:buNone/>
            </a:pPr>
            <a:r>
              <a:rPr lang="en-US" sz="1100" b="1" spc="100" kern="0" dirty="0">
                <a:solidFill>
                  <a:schemeClr val="accent6"/>
                </a:solidFill>
              </a:rPr>
              <a:t>TUESDAY</a:t>
            </a:r>
            <a:endParaRPr lang="en-US" sz="1100" dirty="0"/>
          </a:p>
        </p:txBody>
      </p:sp>
      <p:sp>
        <p:nvSpPr>
          <p:cNvPr id="19" name="Text 14"/>
          <p:cNvSpPr txBox="1"/>
          <p:nvPr/>
        </p:nvSpPr>
        <p:spPr>
          <a:xfrm>
            <a:off x="4846320" y="2057400"/>
            <a:ext cx="1554480" cy="365760"/>
          </a:xfrm>
          <a:prstGeom prst="rect">
            <a:avLst/>
          </a:prstGeom>
          <a:noFill/>
          <a:ln/>
        </p:spPr>
        <p:txBody>
          <a:bodyPr wrap="square" lIns="0" tIns="0" rIns="0" bIns="0" rtlCol="0" anchor="t"/>
          <a:lstStyle/>
          <a:p>
            <a:pPr indent="0" marL="0">
              <a:buNone/>
            </a:pPr>
            <a:r>
              <a:rPr lang="en-US" sz="1700" b="1" dirty="0">
                <a:solidFill>
                  <a:schemeClr val="tx1"/>
                </a:solidFill>
                <a:latin typeface="Cambria" pitchFamily="34" charset="0"/>
                <a:ea typeface="Cambria" pitchFamily="34" charset="-122"/>
                <a:cs typeface="Cambria" pitchFamily="34" charset="-120"/>
              </a:rPr>
              <a:t>Rain</a:t>
            </a:r>
            <a:endParaRPr lang="en-US" sz="1700" dirty="0"/>
          </a:p>
        </p:txBody>
      </p:sp>
      <p:sp>
        <p:nvSpPr>
          <p:cNvPr id="20" name="Text 15"/>
          <p:cNvSpPr txBox="1"/>
          <p:nvPr/>
        </p:nvSpPr>
        <p:spPr>
          <a:xfrm>
            <a:off x="4846320" y="2468880"/>
            <a:ext cx="1554480" cy="1143000"/>
          </a:xfrm>
          <a:prstGeom prst="rect">
            <a:avLst/>
          </a:prstGeom>
          <a:noFill/>
          <a:ln/>
        </p:spPr>
        <p:txBody>
          <a:bodyPr wrap="square" lIns="0" tIns="0" rIns="0" bIns="0" rtlCol="0" anchor="t"/>
          <a:lstStyle/>
          <a:p>
            <a:pPr indent="0" marL="0">
              <a:buNone/>
            </a:pPr>
            <a:r>
              <a:rPr lang="en-US" sz="1400" dirty="0">
                <a:solidFill>
                  <a:schemeClr val="tx2"/>
                </a:solidFill>
              </a:rPr>
              <a:t>It rains. The waste gets wet and smelly. More people dump there.</a:t>
            </a:r>
            <a:endParaRPr lang="en-US" sz="1400" dirty="0"/>
          </a:p>
        </p:txBody>
      </p:sp>
      <p:sp>
        <p:nvSpPr>
          <p:cNvPr id="21" name="Wednesday card"/>
          <p:cNvSpPr/>
          <p:nvPr/>
        </p:nvSpPr>
        <p:spPr>
          <a:xfrm>
            <a:off x="6766560" y="1188720"/>
            <a:ext cx="1874520" cy="2514600"/>
          </a:xfrm>
          <a:prstGeom prst="roundRect">
            <a:avLst>
              <a:gd name="adj" fmla="val 5854"/>
            </a:avLst>
          </a:prstGeom>
          <a:solidFill>
            <a:schemeClr val="bg1"/>
          </a:solidFill>
          <a:ln w="12700">
            <a:solidFill>
              <a:schemeClr val="bg1"/>
            </a:solidFill>
            <a:prstDash val="solid"/>
          </a:ln>
          <a:effectLst>
            <a:outerShdw sx="100000" sy="100000" kx="0" ky="0" algn="bl" rotWithShape="0" blurRad="76200" dist="25400" dir="5400000">
              <a:srgbClr val="8A7564">
                <a:alpha val="18000"/>
              </a:srgbClr>
            </a:outerShdw>
          </a:effectLst>
        </p:spPr>
      </p:sp>
      <p:sp>
        <p:nvSpPr>
          <p:cNvPr id="22" name="Wednesday circle"/>
          <p:cNvSpPr/>
          <p:nvPr/>
        </p:nvSpPr>
        <p:spPr>
          <a:xfrm>
            <a:off x="6949440" y="1371600"/>
            <a:ext cx="548640" cy="548640"/>
          </a:xfrm>
          <a:prstGeom prst="ellipse">
            <a:avLst/>
          </a:prstGeom>
          <a:solidFill>
            <a:schemeClr val="accent2"/>
          </a:solidFill>
          <a:ln w="12700">
            <a:solidFill>
              <a:schemeClr val="accent2"/>
            </a:solidFill>
            <a:prstDash val="solid"/>
          </a:ln>
        </p:spPr>
      </p:sp>
      <p:pic>
        <p:nvPicPr>
          <p:cNvPr id="23" name="Wednesday icon" descr="preencoded.png">    </p:cNvPr>
          <p:cNvPicPr>
            <a:picLocks noChangeAspect="1"/>
          </p:cNvPicPr>
          <p:nvPr/>
        </p:nvPicPr>
        <p:blipFill>
          <a:blip r:embed="rId4"/>
          <a:stretch>
            <a:fillRect/>
          </a:stretch>
        </p:blipFill>
        <p:spPr>
          <a:xfrm>
            <a:off x="7086600" y="1508760"/>
            <a:ext cx="274320" cy="274320"/>
          </a:xfrm>
          <a:prstGeom prst="rect">
            <a:avLst/>
          </a:prstGeom>
        </p:spPr>
      </p:pic>
      <p:sp>
        <p:nvSpPr>
          <p:cNvPr id="24" name="Text 18"/>
          <p:cNvSpPr txBox="1"/>
          <p:nvPr/>
        </p:nvSpPr>
        <p:spPr>
          <a:xfrm>
            <a:off x="7635240" y="1481328"/>
            <a:ext cx="914400" cy="320040"/>
          </a:xfrm>
          <a:prstGeom prst="rect">
            <a:avLst/>
          </a:prstGeom>
          <a:noFill/>
          <a:ln/>
        </p:spPr>
        <p:txBody>
          <a:bodyPr wrap="square" lIns="0" tIns="0" rIns="0" bIns="0" rtlCol="0" anchor="t"/>
          <a:lstStyle/>
          <a:p>
            <a:pPr indent="0" marL="0">
              <a:buNone/>
            </a:pPr>
            <a:r>
              <a:rPr lang="en-US" sz="1100" b="1" spc="100" kern="0" dirty="0">
                <a:solidFill>
                  <a:schemeClr val="accent6"/>
                </a:solidFill>
              </a:rPr>
              <a:t>WEDNESDAY</a:t>
            </a:r>
            <a:endParaRPr lang="en-US" sz="1100" dirty="0"/>
          </a:p>
        </p:txBody>
      </p:sp>
      <p:sp>
        <p:nvSpPr>
          <p:cNvPr id="25" name="Text 19"/>
          <p:cNvSpPr txBox="1"/>
          <p:nvPr/>
        </p:nvSpPr>
        <p:spPr>
          <a:xfrm>
            <a:off x="6949440" y="2057400"/>
            <a:ext cx="1554480" cy="365760"/>
          </a:xfrm>
          <a:prstGeom prst="rect">
            <a:avLst/>
          </a:prstGeom>
          <a:noFill/>
          <a:ln/>
        </p:spPr>
        <p:txBody>
          <a:bodyPr wrap="square" lIns="0" tIns="0" rIns="0" bIns="0" rtlCol="0" anchor="t"/>
          <a:lstStyle/>
          <a:p>
            <a:pPr indent="0" marL="0">
              <a:buNone/>
            </a:pPr>
            <a:r>
              <a:rPr lang="en-US" sz="1700" b="1" dirty="0">
                <a:solidFill>
                  <a:schemeClr val="tx1"/>
                </a:solidFill>
                <a:latin typeface="Cambria" pitchFamily="34" charset="0"/>
                <a:ea typeface="Cambria" pitchFamily="34" charset="-122"/>
                <a:cs typeface="Cambria" pitchFamily="34" charset="-120"/>
              </a:rPr>
              <a:t>Complaint</a:t>
            </a:r>
            <a:endParaRPr lang="en-US" sz="1700" dirty="0"/>
          </a:p>
        </p:txBody>
      </p:sp>
      <p:sp>
        <p:nvSpPr>
          <p:cNvPr id="26" name="Text 20"/>
          <p:cNvSpPr txBox="1"/>
          <p:nvPr/>
        </p:nvSpPr>
        <p:spPr>
          <a:xfrm>
            <a:off x="6949440" y="2468880"/>
            <a:ext cx="1554480" cy="1143000"/>
          </a:xfrm>
          <a:prstGeom prst="rect">
            <a:avLst/>
          </a:prstGeom>
          <a:noFill/>
          <a:ln/>
        </p:spPr>
        <p:txBody>
          <a:bodyPr wrap="square" lIns="0" tIns="0" rIns="0" bIns="0" rtlCol="0" anchor="t"/>
          <a:lstStyle/>
          <a:p>
            <a:pPr indent="0" marL="0">
              <a:buNone/>
            </a:pPr>
            <a:r>
              <a:rPr lang="en-US" sz="1400" dirty="0">
                <a:solidFill>
                  <a:schemeClr val="tx2"/>
                </a:solidFill>
              </a:rPr>
              <a:t>Someone finally complains. The team comes, but it is now a big dump.</a:t>
            </a:r>
            <a:endParaRPr lang="en-US" sz="1400" dirty="0"/>
          </a:p>
        </p:txBody>
      </p:sp>
      <p:sp>
        <p:nvSpPr>
          <p:cNvPr id="27" name="Problem box"/>
          <p:cNvSpPr/>
          <p:nvPr/>
        </p:nvSpPr>
        <p:spPr>
          <a:xfrm>
            <a:off x="457200" y="3977640"/>
            <a:ext cx="8229600" cy="685800"/>
          </a:xfrm>
          <a:prstGeom prst="roundRect">
            <a:avLst>
              <a:gd name="adj" fmla="val 16000"/>
            </a:avLst>
          </a:prstGeom>
          <a:solidFill>
            <a:schemeClr val="accent5"/>
          </a:solidFill>
          <a:ln w="12700">
            <a:solidFill>
              <a:schemeClr val="accent5"/>
            </a:solidFill>
            <a:prstDash val="solid"/>
          </a:ln>
        </p:spPr>
      </p:sp>
      <p:sp>
        <p:nvSpPr>
          <p:cNvPr id="28" name="Text 22"/>
          <p:cNvSpPr txBox="1"/>
          <p:nvPr/>
        </p:nvSpPr>
        <p:spPr>
          <a:xfrm>
            <a:off x="685800" y="3977640"/>
            <a:ext cx="7772400" cy="685800"/>
          </a:xfrm>
          <a:prstGeom prst="rect">
            <a:avLst/>
          </a:prstGeom>
          <a:noFill/>
          <a:ln/>
        </p:spPr>
        <p:txBody>
          <a:bodyPr wrap="square" lIns="0" tIns="0" rIns="0" bIns="0" rtlCol="0" anchor="ctr"/>
          <a:lstStyle/>
          <a:p>
            <a:pPr indent="0" marL="0">
              <a:buNone/>
            </a:pPr>
            <a:r>
              <a:rPr lang="en-US" sz="1500" b="1" dirty="0">
                <a:solidFill>
                  <a:schemeClr val="tx1"/>
                </a:solidFill>
              </a:rPr>
              <a:t>The problem: </a:t>
            </a:r>
            <a:pPr indent="0" marL="0">
              <a:buNone/>
            </a:pPr>
            <a:r>
              <a:rPr lang="en-US" sz="1500" dirty="0">
                <a:solidFill>
                  <a:schemeClr val="tx1"/>
                </a:solidFill>
              </a:rPr>
              <a:t>cities clean after the pile appears. By then it smells, blocks drains and needs a bigger team.</a:t>
            </a:r>
            <a:endParaRPr lang="en-US" sz="1500" dirty="0"/>
          </a:p>
        </p:txBody>
      </p:sp>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200" b="1" dirty="0">
                <a:solidFill>
                  <a:schemeClr val="tx1"/>
                </a:solidFill>
                <a:latin typeface="Cambria" pitchFamily="34" charset="0"/>
                <a:ea typeface="Cambria" pitchFamily="34" charset="-122"/>
                <a:cs typeface="Cambria" pitchFamily="34" charset="-120"/>
              </a:rPr>
              <a:t>Our idea: predict the pile, then prevent it</a:t>
            </a:r>
            <a:endParaRPr lang="en-US" sz="3200" dirty="0"/>
          </a:p>
        </p:txBody>
      </p:sp>
      <p:sp>
        <p:nvSpPr>
          <p:cNvPr id="3" name="Text 1"/>
          <p:cNvSpPr txBox="1"/>
          <p:nvPr/>
        </p:nvSpPr>
        <p:spPr>
          <a:xfrm>
            <a:off x="457200" y="1188720"/>
            <a:ext cx="3291840" cy="1188720"/>
          </a:xfrm>
          <a:prstGeom prst="rect">
            <a:avLst/>
          </a:prstGeom>
          <a:noFill/>
          <a:ln/>
        </p:spPr>
        <p:txBody>
          <a:bodyPr wrap="square" lIns="0" tIns="0" rIns="0" bIns="0" rtlCol="0" anchor="ctr"/>
          <a:lstStyle/>
          <a:p>
            <a:pPr indent="0" marL="0">
              <a:buNone/>
            </a:pPr>
            <a:r>
              <a:rPr lang="en-US" sz="8000" b="1" dirty="0">
                <a:solidFill>
                  <a:schemeClr val="accent2"/>
                </a:solidFill>
                <a:latin typeface="Cambria" pitchFamily="34" charset="0"/>
                <a:ea typeface="Cambria" pitchFamily="34" charset="-122"/>
                <a:cs typeface="Cambria" pitchFamily="34" charset="-120"/>
              </a:rPr>
              <a:t>48 h</a:t>
            </a:r>
            <a:endParaRPr lang="en-US" sz="8000" dirty="0"/>
          </a:p>
        </p:txBody>
      </p:sp>
      <p:sp>
        <p:nvSpPr>
          <p:cNvPr id="4" name="Text 2"/>
          <p:cNvSpPr txBox="1"/>
          <p:nvPr/>
        </p:nvSpPr>
        <p:spPr>
          <a:xfrm>
            <a:off x="457200" y="2468880"/>
            <a:ext cx="3291840" cy="1097280"/>
          </a:xfrm>
          <a:prstGeom prst="rect">
            <a:avLst/>
          </a:prstGeom>
          <a:noFill/>
          <a:ln/>
        </p:spPr>
        <p:txBody>
          <a:bodyPr wrap="square" lIns="0" tIns="0" rIns="0" bIns="0" rtlCol="0" anchor="t"/>
          <a:lstStyle/>
          <a:p>
            <a:pPr indent="0" marL="0">
              <a:buNone/>
            </a:pPr>
            <a:r>
              <a:rPr lang="en-US" sz="1600" dirty="0">
                <a:solidFill>
                  <a:schemeClr val="tx1"/>
                </a:solidFill>
              </a:rPr>
              <a:t>WasteWatch warns the ward officer two days before a block is likely to turn into a garbage spot.</a:t>
            </a:r>
            <a:endParaRPr lang="en-US" sz="1600" dirty="0"/>
          </a:p>
        </p:txBody>
      </p:sp>
      <p:sp>
        <p:nvSpPr>
          <p:cNvPr id="5" name="Old way card"/>
          <p:cNvSpPr/>
          <p:nvPr/>
        </p:nvSpPr>
        <p:spPr>
          <a:xfrm>
            <a:off x="4206240" y="1188720"/>
            <a:ext cx="4480560" cy="1005840"/>
          </a:xfrm>
          <a:prstGeom prst="roundRect">
            <a:avLst>
              <a:gd name="adj" fmla="val 10909"/>
            </a:avLst>
          </a:prstGeom>
          <a:solidFill>
            <a:schemeClr val="bg1"/>
          </a:solidFill>
          <a:ln w="12700">
            <a:solidFill>
              <a:schemeClr val="bg1"/>
            </a:solidFill>
            <a:prstDash val="solid"/>
          </a:ln>
          <a:effectLst>
            <a:outerShdw sx="100000" sy="100000" kx="0" ky="0" algn="bl" rotWithShape="0" blurRad="76200" dist="25400" dir="5400000">
              <a:srgbClr val="8A7564">
                <a:alpha val="18000"/>
              </a:srgbClr>
            </a:outerShdw>
          </a:effectLst>
        </p:spPr>
      </p:sp>
      <p:sp>
        <p:nvSpPr>
          <p:cNvPr id="6" name="Old way circle"/>
          <p:cNvSpPr/>
          <p:nvPr/>
        </p:nvSpPr>
        <p:spPr>
          <a:xfrm>
            <a:off x="4389120" y="1417320"/>
            <a:ext cx="548640" cy="548640"/>
          </a:xfrm>
          <a:prstGeom prst="ellipse">
            <a:avLst/>
          </a:prstGeom>
          <a:solidFill>
            <a:schemeClr val="accent6"/>
          </a:solidFill>
          <a:ln w="12700">
            <a:solidFill>
              <a:schemeClr val="accent6"/>
            </a:solidFill>
            <a:prstDash val="solid"/>
          </a:ln>
        </p:spPr>
      </p:sp>
      <p:pic>
        <p:nvPicPr>
          <p:cNvPr id="7" name="Old way icon" descr="preencoded.png">    </p:cNvPr>
          <p:cNvPicPr>
            <a:picLocks noChangeAspect="1"/>
          </p:cNvPicPr>
          <p:nvPr/>
        </p:nvPicPr>
        <p:blipFill>
          <a:blip r:embed="rId1"/>
          <a:stretch>
            <a:fillRect/>
          </a:stretch>
        </p:blipFill>
        <p:spPr>
          <a:xfrm>
            <a:off x="4526280" y="1554480"/>
            <a:ext cx="274320" cy="274320"/>
          </a:xfrm>
          <a:prstGeom prst="rect">
            <a:avLst/>
          </a:prstGeom>
        </p:spPr>
      </p:pic>
      <p:sp>
        <p:nvSpPr>
          <p:cNvPr id="8" name="Text 5"/>
          <p:cNvSpPr txBox="1"/>
          <p:nvPr/>
        </p:nvSpPr>
        <p:spPr>
          <a:xfrm>
            <a:off x="5120640" y="1325880"/>
            <a:ext cx="3383280" cy="320040"/>
          </a:xfrm>
          <a:prstGeom prst="rect">
            <a:avLst/>
          </a:prstGeom>
          <a:noFill/>
          <a:ln/>
        </p:spPr>
        <p:txBody>
          <a:bodyPr wrap="square" lIns="0" tIns="0" rIns="0" bIns="0" rtlCol="0" anchor="t"/>
          <a:lstStyle/>
          <a:p>
            <a:pPr indent="0" marL="0">
              <a:buNone/>
            </a:pPr>
            <a:r>
              <a:rPr lang="en-US" sz="1600" b="1" dirty="0">
                <a:solidFill>
                  <a:schemeClr val="tx1"/>
                </a:solidFill>
                <a:latin typeface="Cambria" pitchFamily="34" charset="0"/>
                <a:ea typeface="Cambria" pitchFamily="34" charset="-122"/>
                <a:cs typeface="Cambria" pitchFamily="34" charset="-120"/>
              </a:rPr>
              <a:t>Old way</a:t>
            </a:r>
            <a:endParaRPr lang="en-US" sz="1600" dirty="0"/>
          </a:p>
        </p:txBody>
      </p:sp>
      <p:sp>
        <p:nvSpPr>
          <p:cNvPr id="9" name="Text 6"/>
          <p:cNvSpPr txBox="1"/>
          <p:nvPr/>
        </p:nvSpPr>
        <p:spPr>
          <a:xfrm>
            <a:off x="5120640" y="1645920"/>
            <a:ext cx="3383280" cy="457200"/>
          </a:xfrm>
          <a:prstGeom prst="rect">
            <a:avLst/>
          </a:prstGeom>
          <a:noFill/>
          <a:ln/>
        </p:spPr>
        <p:txBody>
          <a:bodyPr wrap="square" lIns="0" tIns="0" rIns="0" bIns="0" rtlCol="0" anchor="t"/>
          <a:lstStyle/>
          <a:p>
            <a:pPr indent="0" marL="0">
              <a:buNone/>
            </a:pPr>
            <a:r>
              <a:rPr lang="en-US" sz="1400" dirty="0">
                <a:solidFill>
                  <a:schemeClr val="tx2"/>
                </a:solidFill>
              </a:rPr>
              <a:t>Wait for a complaint  →  send a team  →  clean a big dump</a:t>
            </a:r>
            <a:endParaRPr lang="en-US" sz="1400" dirty="0"/>
          </a:p>
        </p:txBody>
      </p:sp>
      <p:sp>
        <p:nvSpPr>
          <p:cNvPr id="10" name="WasteWatch way card"/>
          <p:cNvSpPr/>
          <p:nvPr/>
        </p:nvSpPr>
        <p:spPr>
          <a:xfrm>
            <a:off x="4206240" y="2423160"/>
            <a:ext cx="4480560" cy="1005840"/>
          </a:xfrm>
          <a:prstGeom prst="roundRect">
            <a:avLst>
              <a:gd name="adj" fmla="val 10909"/>
            </a:avLst>
          </a:prstGeom>
          <a:solidFill>
            <a:schemeClr val="bg1"/>
          </a:solidFill>
          <a:ln w="12700">
            <a:solidFill>
              <a:schemeClr val="bg1"/>
            </a:solidFill>
            <a:prstDash val="solid"/>
          </a:ln>
          <a:effectLst>
            <a:outerShdw sx="100000" sy="100000" kx="0" ky="0" algn="bl" rotWithShape="0" blurRad="76200" dist="25400" dir="5400000">
              <a:srgbClr val="8A7564">
                <a:alpha val="18000"/>
              </a:srgbClr>
            </a:outerShdw>
          </a:effectLst>
        </p:spPr>
      </p:sp>
      <p:sp>
        <p:nvSpPr>
          <p:cNvPr id="11" name="WasteWatch way circle"/>
          <p:cNvSpPr/>
          <p:nvPr/>
        </p:nvSpPr>
        <p:spPr>
          <a:xfrm>
            <a:off x="4389120" y="2651760"/>
            <a:ext cx="548640" cy="548640"/>
          </a:xfrm>
          <a:prstGeom prst="ellipse">
            <a:avLst/>
          </a:prstGeom>
          <a:solidFill>
            <a:schemeClr val="accent4"/>
          </a:solidFill>
          <a:ln w="12700">
            <a:solidFill>
              <a:schemeClr val="accent4"/>
            </a:solidFill>
            <a:prstDash val="solid"/>
          </a:ln>
        </p:spPr>
      </p:sp>
      <p:pic>
        <p:nvPicPr>
          <p:cNvPr id="12" name="WasteWatch way icon" descr="preencoded.png">    </p:cNvPr>
          <p:cNvPicPr>
            <a:picLocks noChangeAspect="1"/>
          </p:cNvPicPr>
          <p:nvPr/>
        </p:nvPicPr>
        <p:blipFill>
          <a:blip r:embed="rId2"/>
          <a:stretch>
            <a:fillRect/>
          </a:stretch>
        </p:blipFill>
        <p:spPr>
          <a:xfrm>
            <a:off x="4526280" y="2788920"/>
            <a:ext cx="274320" cy="274320"/>
          </a:xfrm>
          <a:prstGeom prst="rect">
            <a:avLst/>
          </a:prstGeom>
        </p:spPr>
      </p:pic>
      <p:sp>
        <p:nvSpPr>
          <p:cNvPr id="13" name="Text 9"/>
          <p:cNvSpPr txBox="1"/>
          <p:nvPr/>
        </p:nvSpPr>
        <p:spPr>
          <a:xfrm>
            <a:off x="5120640" y="2560320"/>
            <a:ext cx="3383280" cy="320040"/>
          </a:xfrm>
          <a:prstGeom prst="rect">
            <a:avLst/>
          </a:prstGeom>
          <a:noFill/>
          <a:ln/>
        </p:spPr>
        <p:txBody>
          <a:bodyPr wrap="square" lIns="0" tIns="0" rIns="0" bIns="0" rtlCol="0" anchor="t"/>
          <a:lstStyle/>
          <a:p>
            <a:pPr indent="0" marL="0">
              <a:buNone/>
            </a:pPr>
            <a:r>
              <a:rPr lang="en-US" sz="1600" b="1" dirty="0">
                <a:solidFill>
                  <a:schemeClr val="tx1"/>
                </a:solidFill>
                <a:latin typeface="Cambria" pitchFamily="34" charset="0"/>
                <a:ea typeface="Cambria" pitchFamily="34" charset="-122"/>
                <a:cs typeface="Cambria" pitchFamily="34" charset="-120"/>
              </a:rPr>
              <a:t>WasteWatch way</a:t>
            </a:r>
            <a:endParaRPr lang="en-US" sz="1600" dirty="0"/>
          </a:p>
        </p:txBody>
      </p:sp>
      <p:sp>
        <p:nvSpPr>
          <p:cNvPr id="14" name="Text 10"/>
          <p:cNvSpPr txBox="1"/>
          <p:nvPr/>
        </p:nvSpPr>
        <p:spPr>
          <a:xfrm>
            <a:off x="5120640" y="2880360"/>
            <a:ext cx="3383280" cy="457200"/>
          </a:xfrm>
          <a:prstGeom prst="rect">
            <a:avLst/>
          </a:prstGeom>
          <a:noFill/>
          <a:ln/>
        </p:spPr>
        <p:txBody>
          <a:bodyPr wrap="square" lIns="0" tIns="0" rIns="0" bIns="0" rtlCol="0" anchor="t"/>
          <a:lstStyle/>
          <a:p>
            <a:pPr indent="0" marL="0">
              <a:buNone/>
            </a:pPr>
            <a:r>
              <a:rPr lang="en-US" sz="1400" dirty="0">
                <a:solidFill>
                  <a:schemeClr val="tx2"/>
                </a:solidFill>
              </a:rPr>
              <a:t>Predict risky blocks  →  send a team early  →  clean a small pile</a:t>
            </a:r>
            <a:endParaRPr lang="en-US" sz="1400" dirty="0"/>
          </a:p>
        </p:txBody>
      </p:sp>
      <p:sp>
        <p:nvSpPr>
          <p:cNvPr id="15" name="Grid box"/>
          <p:cNvSpPr/>
          <p:nvPr/>
        </p:nvSpPr>
        <p:spPr>
          <a:xfrm>
            <a:off x="457200" y="3840480"/>
            <a:ext cx="8229600" cy="822960"/>
          </a:xfrm>
          <a:prstGeom prst="roundRect">
            <a:avLst>
              <a:gd name="adj" fmla="val 13333"/>
            </a:avLst>
          </a:prstGeom>
          <a:solidFill>
            <a:schemeClr val="accent5"/>
          </a:solidFill>
          <a:ln w="12700">
            <a:solidFill>
              <a:schemeClr val="accent5"/>
            </a:solidFill>
            <a:prstDash val="solid"/>
          </a:ln>
        </p:spPr>
      </p:sp>
      <p:sp>
        <p:nvSpPr>
          <p:cNvPr id="16" name="Text 12"/>
          <p:cNvSpPr txBox="1"/>
          <p:nvPr/>
        </p:nvSpPr>
        <p:spPr>
          <a:xfrm>
            <a:off x="685800" y="3931920"/>
            <a:ext cx="7772400" cy="320040"/>
          </a:xfrm>
          <a:prstGeom prst="rect">
            <a:avLst/>
          </a:prstGeom>
          <a:noFill/>
          <a:ln/>
        </p:spPr>
        <p:txBody>
          <a:bodyPr wrap="square" lIns="0" tIns="0" rIns="0" bIns="0" rtlCol="0" anchor="t"/>
          <a:lstStyle/>
          <a:p>
            <a:pPr indent="0" marL="0">
              <a:buNone/>
            </a:pPr>
            <a:r>
              <a:rPr lang="en-US" sz="1400" dirty="0">
                <a:solidFill>
                  <a:schemeClr val="tx1"/>
                </a:solidFill>
              </a:rPr>
              <a:t>The ward map is cut into 70 small blocks (100 m × 100 m). Every block gets a risk score:</a:t>
            </a:r>
            <a:endParaRPr lang="en-US" sz="1400" dirty="0"/>
          </a:p>
        </p:txBody>
      </p:sp>
      <p:sp>
        <p:nvSpPr>
          <p:cNvPr id="17" name="High dot"/>
          <p:cNvSpPr/>
          <p:nvPr/>
        </p:nvSpPr>
        <p:spPr>
          <a:xfrm>
            <a:off x="685800" y="4325112"/>
            <a:ext cx="201168" cy="201168"/>
          </a:xfrm>
          <a:prstGeom prst="ellipse">
            <a:avLst/>
          </a:prstGeom>
          <a:solidFill>
            <a:schemeClr val="accent2"/>
          </a:solidFill>
          <a:ln w="12700">
            <a:solidFill>
              <a:schemeClr val="accent2"/>
            </a:solidFill>
            <a:prstDash val="solid"/>
          </a:ln>
        </p:spPr>
      </p:sp>
      <p:sp>
        <p:nvSpPr>
          <p:cNvPr id="18" name="Text 14"/>
          <p:cNvSpPr txBox="1"/>
          <p:nvPr/>
        </p:nvSpPr>
        <p:spPr>
          <a:xfrm>
            <a:off x="978408" y="4279392"/>
            <a:ext cx="1097280" cy="292608"/>
          </a:xfrm>
          <a:prstGeom prst="rect">
            <a:avLst/>
          </a:prstGeom>
          <a:noFill/>
          <a:ln/>
        </p:spPr>
        <p:txBody>
          <a:bodyPr wrap="square" lIns="0" tIns="0" rIns="0" bIns="0" rtlCol="0" anchor="ctr"/>
          <a:lstStyle/>
          <a:p>
            <a:pPr indent="0" marL="0">
              <a:buNone/>
            </a:pPr>
            <a:r>
              <a:rPr lang="en-US" sz="1400" b="1" dirty="0">
                <a:solidFill>
                  <a:schemeClr val="tx1"/>
                </a:solidFill>
              </a:rPr>
              <a:t>High risk</a:t>
            </a:r>
            <a:endParaRPr lang="en-US" sz="1400" dirty="0"/>
          </a:p>
        </p:txBody>
      </p:sp>
      <p:sp>
        <p:nvSpPr>
          <p:cNvPr id="19" name="Medium dot"/>
          <p:cNvSpPr/>
          <p:nvPr/>
        </p:nvSpPr>
        <p:spPr>
          <a:xfrm>
            <a:off x="2148840" y="4325112"/>
            <a:ext cx="201168" cy="201168"/>
          </a:xfrm>
          <a:prstGeom prst="ellipse">
            <a:avLst/>
          </a:prstGeom>
          <a:solidFill>
            <a:schemeClr val="accent3"/>
          </a:solidFill>
          <a:ln w="12700">
            <a:solidFill>
              <a:schemeClr val="accent3"/>
            </a:solidFill>
            <a:prstDash val="solid"/>
          </a:ln>
        </p:spPr>
      </p:sp>
      <p:sp>
        <p:nvSpPr>
          <p:cNvPr id="20" name="Text 16"/>
          <p:cNvSpPr txBox="1"/>
          <p:nvPr/>
        </p:nvSpPr>
        <p:spPr>
          <a:xfrm>
            <a:off x="2441448" y="4279392"/>
            <a:ext cx="1097280" cy="292608"/>
          </a:xfrm>
          <a:prstGeom prst="rect">
            <a:avLst/>
          </a:prstGeom>
          <a:noFill/>
          <a:ln/>
        </p:spPr>
        <p:txBody>
          <a:bodyPr wrap="square" lIns="0" tIns="0" rIns="0" bIns="0" rtlCol="0" anchor="ctr"/>
          <a:lstStyle/>
          <a:p>
            <a:pPr indent="0" marL="0">
              <a:buNone/>
            </a:pPr>
            <a:r>
              <a:rPr lang="en-US" sz="1400" b="1" dirty="0">
                <a:solidFill>
                  <a:schemeClr val="tx1"/>
                </a:solidFill>
              </a:rPr>
              <a:t>Medium risk</a:t>
            </a:r>
            <a:endParaRPr lang="en-US" sz="1400" dirty="0"/>
          </a:p>
        </p:txBody>
      </p:sp>
      <p:sp>
        <p:nvSpPr>
          <p:cNvPr id="21" name="Low dot"/>
          <p:cNvSpPr/>
          <p:nvPr/>
        </p:nvSpPr>
        <p:spPr>
          <a:xfrm>
            <a:off x="3611880" y="4325112"/>
            <a:ext cx="201168" cy="201168"/>
          </a:xfrm>
          <a:prstGeom prst="ellipse">
            <a:avLst/>
          </a:prstGeom>
          <a:solidFill>
            <a:schemeClr val="accent4"/>
          </a:solidFill>
          <a:ln w="12700">
            <a:solidFill>
              <a:schemeClr val="accent4"/>
            </a:solidFill>
            <a:prstDash val="solid"/>
          </a:ln>
        </p:spPr>
      </p:sp>
      <p:sp>
        <p:nvSpPr>
          <p:cNvPr id="22" name="Text 18"/>
          <p:cNvSpPr txBox="1"/>
          <p:nvPr/>
        </p:nvSpPr>
        <p:spPr>
          <a:xfrm>
            <a:off x="3904488" y="4279392"/>
            <a:ext cx="1097280" cy="292608"/>
          </a:xfrm>
          <a:prstGeom prst="rect">
            <a:avLst/>
          </a:prstGeom>
          <a:noFill/>
          <a:ln/>
        </p:spPr>
        <p:txBody>
          <a:bodyPr wrap="square" lIns="0" tIns="0" rIns="0" bIns="0" rtlCol="0" anchor="ctr"/>
          <a:lstStyle/>
          <a:p>
            <a:pPr indent="0" marL="0">
              <a:buNone/>
            </a:pPr>
            <a:r>
              <a:rPr lang="en-US" sz="1400" b="1" dirty="0">
                <a:solidFill>
                  <a:schemeClr val="tx1"/>
                </a:solidFill>
              </a:rPr>
              <a:t>Low risk</a:t>
            </a:r>
            <a:endParaRPr lang="en-US" sz="1400" dirty="0"/>
          </a:p>
        </p:txBody>
      </p:sp>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200" b="1" dirty="0">
                <a:solidFill>
                  <a:schemeClr val="tx1"/>
                </a:solidFill>
                <a:latin typeface="Cambria" pitchFamily="34" charset="0"/>
                <a:ea typeface="Cambria" pitchFamily="34" charset="-122"/>
                <a:cs typeface="Cambria" pitchFamily="34" charset="-120"/>
              </a:rPr>
              <a:t>The flow: 4 roles, 1 loop</a:t>
            </a:r>
            <a:endParaRPr lang="en-US" sz="3200" dirty="0"/>
          </a:p>
        </p:txBody>
      </p:sp>
      <p:sp>
        <p:nvSpPr>
          <p:cNvPr id="3" name="1. Citizen reports circle"/>
          <p:cNvSpPr/>
          <p:nvPr/>
        </p:nvSpPr>
        <p:spPr>
          <a:xfrm>
            <a:off x="960120" y="1188720"/>
            <a:ext cx="822960" cy="822960"/>
          </a:xfrm>
          <a:prstGeom prst="ellipse">
            <a:avLst/>
          </a:prstGeom>
          <a:solidFill>
            <a:schemeClr val="accent1"/>
          </a:solidFill>
          <a:ln w="12700">
            <a:solidFill>
              <a:schemeClr val="accent1"/>
            </a:solidFill>
            <a:prstDash val="solid"/>
          </a:ln>
        </p:spPr>
      </p:sp>
      <p:pic>
        <p:nvPicPr>
          <p:cNvPr id="4" name="1. Citizen reports icon" descr="preencoded.png">    </p:cNvPr>
          <p:cNvPicPr>
            <a:picLocks noChangeAspect="1"/>
          </p:cNvPicPr>
          <p:nvPr/>
        </p:nvPicPr>
        <p:blipFill>
          <a:blip r:embed="rId1"/>
          <a:stretch>
            <a:fillRect/>
          </a:stretch>
        </p:blipFill>
        <p:spPr>
          <a:xfrm>
            <a:off x="1165860" y="1394460"/>
            <a:ext cx="411480" cy="411480"/>
          </a:xfrm>
          <a:prstGeom prst="rect">
            <a:avLst/>
          </a:prstGeom>
        </p:spPr>
      </p:pic>
      <p:sp>
        <p:nvSpPr>
          <p:cNvPr id="5" name="Arrow 1"/>
          <p:cNvSpPr/>
          <p:nvPr/>
        </p:nvSpPr>
        <p:spPr>
          <a:xfrm>
            <a:off x="1920240" y="1600200"/>
            <a:ext cx="960120" cy="0"/>
          </a:xfrm>
          <a:prstGeom prst="line">
            <a:avLst/>
          </a:prstGeom>
          <a:noFill/>
          <a:ln w="25400">
            <a:solidFill>
              <a:schemeClr val="accent1"/>
            </a:solidFill>
            <a:prstDash val="solid"/>
            <a:tailEnd type="triangle"/>
          </a:ln>
        </p:spPr>
      </p:sp>
      <p:sp>
        <p:nvSpPr>
          <p:cNvPr id="6" name="Text 3"/>
          <p:cNvSpPr txBox="1"/>
          <p:nvPr/>
        </p:nvSpPr>
        <p:spPr>
          <a:xfrm>
            <a:off x="457200" y="2194560"/>
            <a:ext cx="1828800" cy="365760"/>
          </a:xfrm>
          <a:prstGeom prst="rect">
            <a:avLst/>
          </a:prstGeom>
          <a:noFill/>
          <a:ln/>
        </p:spPr>
        <p:txBody>
          <a:bodyPr wrap="square" lIns="0" tIns="0" rIns="0" bIns="0" rtlCol="0" anchor="t"/>
          <a:lstStyle/>
          <a:p>
            <a:pPr algn="ctr" indent="0" marL="0">
              <a:buNone/>
            </a:pPr>
            <a:r>
              <a:rPr lang="en-US" sz="1600" b="1" dirty="0">
                <a:solidFill>
                  <a:schemeClr val="tx1"/>
                </a:solidFill>
                <a:latin typeface="Cambria" pitchFamily="34" charset="0"/>
                <a:ea typeface="Cambria" pitchFamily="34" charset="-122"/>
                <a:cs typeface="Cambria" pitchFamily="34" charset="-120"/>
              </a:rPr>
              <a:t>1. Citizen reports</a:t>
            </a:r>
            <a:endParaRPr lang="en-US" sz="1600" dirty="0"/>
          </a:p>
        </p:txBody>
      </p:sp>
      <p:sp>
        <p:nvSpPr>
          <p:cNvPr id="7" name="Text 4"/>
          <p:cNvSpPr txBox="1"/>
          <p:nvPr/>
        </p:nvSpPr>
        <p:spPr>
          <a:xfrm>
            <a:off x="457200" y="2606040"/>
            <a:ext cx="1828800" cy="914400"/>
          </a:xfrm>
          <a:prstGeom prst="rect">
            <a:avLst/>
          </a:prstGeom>
          <a:noFill/>
          <a:ln/>
        </p:spPr>
        <p:txBody>
          <a:bodyPr wrap="square" lIns="0" tIns="0" rIns="0" bIns="0" rtlCol="0" anchor="t"/>
          <a:lstStyle/>
          <a:p>
            <a:pPr algn="ctr" indent="0" marL="0">
              <a:buNone/>
            </a:pPr>
            <a:r>
              <a:rPr lang="en-US" sz="1400" dirty="0">
                <a:solidFill>
                  <a:schemeClr val="tx2"/>
                </a:solidFill>
              </a:rPr>
              <a:t>Sees garbage, takes a photo. The phone adds the GPS location.</a:t>
            </a:r>
            <a:endParaRPr lang="en-US" sz="1400" dirty="0"/>
          </a:p>
        </p:txBody>
      </p:sp>
      <p:sp>
        <p:nvSpPr>
          <p:cNvPr id="8" name="Text 5"/>
          <p:cNvSpPr txBox="1"/>
          <p:nvPr/>
        </p:nvSpPr>
        <p:spPr>
          <a:xfrm>
            <a:off x="457200" y="3566160"/>
            <a:ext cx="1828800" cy="274320"/>
          </a:xfrm>
          <a:prstGeom prst="rect">
            <a:avLst/>
          </a:prstGeom>
          <a:noFill/>
          <a:ln/>
        </p:spPr>
        <p:txBody>
          <a:bodyPr wrap="square" lIns="0" tIns="0" rIns="0" bIns="0" rtlCol="0" anchor="t"/>
          <a:lstStyle/>
          <a:p>
            <a:pPr algn="ctr" indent="0" marL="0">
              <a:buNone/>
            </a:pPr>
            <a:r>
              <a:rPr lang="en-US" sz="1100" i="1" dirty="0">
                <a:solidFill>
                  <a:schemeClr val="accent6"/>
                </a:solidFill>
              </a:rPr>
              <a:t>Report page</a:t>
            </a:r>
            <a:endParaRPr lang="en-US" sz="1100" dirty="0"/>
          </a:p>
        </p:txBody>
      </p:sp>
      <p:sp>
        <p:nvSpPr>
          <p:cNvPr id="9" name="2. Model predicts circle"/>
          <p:cNvSpPr/>
          <p:nvPr/>
        </p:nvSpPr>
        <p:spPr>
          <a:xfrm>
            <a:off x="3090672" y="1188720"/>
            <a:ext cx="822960" cy="822960"/>
          </a:xfrm>
          <a:prstGeom prst="ellipse">
            <a:avLst/>
          </a:prstGeom>
          <a:solidFill>
            <a:schemeClr val="accent1"/>
          </a:solidFill>
          <a:ln w="12700">
            <a:solidFill>
              <a:schemeClr val="accent1"/>
            </a:solidFill>
            <a:prstDash val="solid"/>
          </a:ln>
        </p:spPr>
      </p:sp>
      <p:pic>
        <p:nvPicPr>
          <p:cNvPr id="10" name="2. Model predicts icon" descr="preencoded.png">    </p:cNvPr>
          <p:cNvPicPr>
            <a:picLocks noChangeAspect="1"/>
          </p:cNvPicPr>
          <p:nvPr/>
        </p:nvPicPr>
        <p:blipFill>
          <a:blip r:embed="rId2"/>
          <a:stretch>
            <a:fillRect/>
          </a:stretch>
        </p:blipFill>
        <p:spPr>
          <a:xfrm>
            <a:off x="3296412" y="1394460"/>
            <a:ext cx="411480" cy="411480"/>
          </a:xfrm>
          <a:prstGeom prst="rect">
            <a:avLst/>
          </a:prstGeom>
        </p:spPr>
      </p:pic>
      <p:sp>
        <p:nvSpPr>
          <p:cNvPr id="11" name="Arrow 2"/>
          <p:cNvSpPr/>
          <p:nvPr/>
        </p:nvSpPr>
        <p:spPr>
          <a:xfrm>
            <a:off x="4050792" y="1600200"/>
            <a:ext cx="960120" cy="0"/>
          </a:xfrm>
          <a:prstGeom prst="line">
            <a:avLst/>
          </a:prstGeom>
          <a:noFill/>
          <a:ln w="25400">
            <a:solidFill>
              <a:schemeClr val="accent1"/>
            </a:solidFill>
            <a:prstDash val="solid"/>
            <a:tailEnd type="triangle"/>
          </a:ln>
        </p:spPr>
      </p:sp>
      <p:sp>
        <p:nvSpPr>
          <p:cNvPr id="12" name="Text 8"/>
          <p:cNvSpPr txBox="1"/>
          <p:nvPr/>
        </p:nvSpPr>
        <p:spPr>
          <a:xfrm>
            <a:off x="2587752" y="2194560"/>
            <a:ext cx="1828800" cy="365760"/>
          </a:xfrm>
          <a:prstGeom prst="rect">
            <a:avLst/>
          </a:prstGeom>
          <a:noFill/>
          <a:ln/>
        </p:spPr>
        <p:txBody>
          <a:bodyPr wrap="square" lIns="0" tIns="0" rIns="0" bIns="0" rtlCol="0" anchor="t"/>
          <a:lstStyle/>
          <a:p>
            <a:pPr algn="ctr" indent="0" marL="0">
              <a:buNone/>
            </a:pPr>
            <a:r>
              <a:rPr lang="en-US" sz="1600" b="1" dirty="0">
                <a:solidFill>
                  <a:schemeClr val="tx1"/>
                </a:solidFill>
                <a:latin typeface="Cambria" pitchFamily="34" charset="0"/>
                <a:ea typeface="Cambria" pitchFamily="34" charset="-122"/>
                <a:cs typeface="Cambria" pitchFamily="34" charset="-120"/>
              </a:rPr>
              <a:t>2. Model predicts</a:t>
            </a:r>
            <a:endParaRPr lang="en-US" sz="1600" dirty="0"/>
          </a:p>
        </p:txBody>
      </p:sp>
      <p:sp>
        <p:nvSpPr>
          <p:cNvPr id="13" name="Text 9"/>
          <p:cNvSpPr txBox="1"/>
          <p:nvPr/>
        </p:nvSpPr>
        <p:spPr>
          <a:xfrm>
            <a:off x="2587752" y="2606040"/>
            <a:ext cx="1828800" cy="914400"/>
          </a:xfrm>
          <a:prstGeom prst="rect">
            <a:avLst/>
          </a:prstGeom>
          <a:noFill/>
          <a:ln/>
        </p:spPr>
        <p:txBody>
          <a:bodyPr wrap="square" lIns="0" tIns="0" rIns="0" bIns="0" rtlCol="0" anchor="t"/>
          <a:lstStyle/>
          <a:p>
            <a:pPr algn="ctr" indent="0" marL="0">
              <a:buNone/>
            </a:pPr>
            <a:r>
              <a:rPr lang="en-US" sz="1400" dirty="0">
                <a:solidFill>
                  <a:schemeClr val="tx2"/>
                </a:solidFill>
              </a:rPr>
              <a:t>Gives every block a risk % for the next 48 h, with reasons.</a:t>
            </a:r>
            <a:endParaRPr lang="en-US" sz="1400" dirty="0"/>
          </a:p>
        </p:txBody>
      </p:sp>
      <p:sp>
        <p:nvSpPr>
          <p:cNvPr id="14" name="Text 10"/>
          <p:cNvSpPr txBox="1"/>
          <p:nvPr/>
        </p:nvSpPr>
        <p:spPr>
          <a:xfrm>
            <a:off x="2587752" y="3566160"/>
            <a:ext cx="1828800" cy="274320"/>
          </a:xfrm>
          <a:prstGeom prst="rect">
            <a:avLst/>
          </a:prstGeom>
          <a:noFill/>
          <a:ln/>
        </p:spPr>
        <p:txBody>
          <a:bodyPr wrap="square" lIns="0" tIns="0" rIns="0" bIns="0" rtlCol="0" anchor="t"/>
          <a:lstStyle/>
          <a:p>
            <a:pPr algn="ctr" indent="0" marL="0">
              <a:buNone/>
            </a:pPr>
            <a:r>
              <a:rPr lang="en-US" sz="1100" i="1" dirty="0">
                <a:solidFill>
                  <a:schemeClr val="accent6"/>
                </a:solidFill>
              </a:rPr>
              <a:t>score_blocks command</a:t>
            </a:r>
            <a:endParaRPr lang="en-US" sz="1100" dirty="0"/>
          </a:p>
        </p:txBody>
      </p:sp>
      <p:sp>
        <p:nvSpPr>
          <p:cNvPr id="15" name="3. Officer assigns circle"/>
          <p:cNvSpPr/>
          <p:nvPr/>
        </p:nvSpPr>
        <p:spPr>
          <a:xfrm>
            <a:off x="5221224" y="1188720"/>
            <a:ext cx="822960" cy="822960"/>
          </a:xfrm>
          <a:prstGeom prst="ellipse">
            <a:avLst/>
          </a:prstGeom>
          <a:solidFill>
            <a:schemeClr val="accent1"/>
          </a:solidFill>
          <a:ln w="12700">
            <a:solidFill>
              <a:schemeClr val="accent1"/>
            </a:solidFill>
            <a:prstDash val="solid"/>
          </a:ln>
        </p:spPr>
      </p:sp>
      <p:pic>
        <p:nvPicPr>
          <p:cNvPr id="16" name="3. Officer assigns icon" descr="preencoded.png">    </p:cNvPr>
          <p:cNvPicPr>
            <a:picLocks noChangeAspect="1"/>
          </p:cNvPicPr>
          <p:nvPr/>
        </p:nvPicPr>
        <p:blipFill>
          <a:blip r:embed="rId3"/>
          <a:stretch>
            <a:fillRect/>
          </a:stretch>
        </p:blipFill>
        <p:spPr>
          <a:xfrm>
            <a:off x="5426964" y="1394460"/>
            <a:ext cx="411480" cy="411480"/>
          </a:xfrm>
          <a:prstGeom prst="rect">
            <a:avLst/>
          </a:prstGeom>
        </p:spPr>
      </p:pic>
      <p:sp>
        <p:nvSpPr>
          <p:cNvPr id="17" name="Arrow 3"/>
          <p:cNvSpPr/>
          <p:nvPr/>
        </p:nvSpPr>
        <p:spPr>
          <a:xfrm>
            <a:off x="6181344" y="1600200"/>
            <a:ext cx="960120" cy="0"/>
          </a:xfrm>
          <a:prstGeom prst="line">
            <a:avLst/>
          </a:prstGeom>
          <a:noFill/>
          <a:ln w="25400">
            <a:solidFill>
              <a:schemeClr val="accent1"/>
            </a:solidFill>
            <a:prstDash val="solid"/>
            <a:tailEnd type="triangle"/>
          </a:ln>
        </p:spPr>
      </p:sp>
      <p:sp>
        <p:nvSpPr>
          <p:cNvPr id="18" name="Text 13"/>
          <p:cNvSpPr txBox="1"/>
          <p:nvPr/>
        </p:nvSpPr>
        <p:spPr>
          <a:xfrm>
            <a:off x="4718304" y="2194560"/>
            <a:ext cx="1828800" cy="365760"/>
          </a:xfrm>
          <a:prstGeom prst="rect">
            <a:avLst/>
          </a:prstGeom>
          <a:noFill/>
          <a:ln/>
        </p:spPr>
        <p:txBody>
          <a:bodyPr wrap="square" lIns="0" tIns="0" rIns="0" bIns="0" rtlCol="0" anchor="t"/>
          <a:lstStyle/>
          <a:p>
            <a:pPr algn="ctr" indent="0" marL="0">
              <a:buNone/>
            </a:pPr>
            <a:r>
              <a:rPr lang="en-US" sz="1600" b="1" dirty="0">
                <a:solidFill>
                  <a:schemeClr val="tx1"/>
                </a:solidFill>
                <a:latin typeface="Cambria" pitchFamily="34" charset="0"/>
                <a:ea typeface="Cambria" pitchFamily="34" charset="-122"/>
                <a:cs typeface="Cambria" pitchFamily="34" charset="-120"/>
              </a:rPr>
              <a:t>3. Officer assigns</a:t>
            </a:r>
            <a:endParaRPr lang="en-US" sz="1600" dirty="0"/>
          </a:p>
        </p:txBody>
      </p:sp>
      <p:sp>
        <p:nvSpPr>
          <p:cNvPr id="19" name="Text 14"/>
          <p:cNvSpPr txBox="1"/>
          <p:nvPr/>
        </p:nvSpPr>
        <p:spPr>
          <a:xfrm>
            <a:off x="4718304" y="2606040"/>
            <a:ext cx="1828800" cy="914400"/>
          </a:xfrm>
          <a:prstGeom prst="rect">
            <a:avLst/>
          </a:prstGeom>
          <a:noFill/>
          <a:ln/>
        </p:spPr>
        <p:txBody>
          <a:bodyPr wrap="square" lIns="0" tIns="0" rIns="0" bIns="0" rtlCol="0" anchor="t"/>
          <a:lstStyle/>
          <a:p>
            <a:pPr algn="ctr" indent="0" marL="0">
              <a:buNone/>
            </a:pPr>
            <a:r>
              <a:rPr lang="en-US" sz="1400" dirty="0">
                <a:solidFill>
                  <a:schemeClr val="tx2"/>
                </a:solidFill>
              </a:rPr>
              <a:t>Sees the colour map and priority list. Assigns a team to red blocks.</a:t>
            </a:r>
            <a:endParaRPr lang="en-US" sz="1400" dirty="0"/>
          </a:p>
        </p:txBody>
      </p:sp>
      <p:sp>
        <p:nvSpPr>
          <p:cNvPr id="20" name="Text 15"/>
          <p:cNvSpPr txBox="1"/>
          <p:nvPr/>
        </p:nvSpPr>
        <p:spPr>
          <a:xfrm>
            <a:off x="4718304" y="3566160"/>
            <a:ext cx="1828800" cy="274320"/>
          </a:xfrm>
          <a:prstGeom prst="rect">
            <a:avLst/>
          </a:prstGeom>
          <a:noFill/>
          <a:ln/>
        </p:spPr>
        <p:txBody>
          <a:bodyPr wrap="square" lIns="0" tIns="0" rIns="0" bIns="0" rtlCol="0" anchor="t"/>
          <a:lstStyle/>
          <a:p>
            <a:pPr algn="ctr" indent="0" marL="0">
              <a:buNone/>
            </a:pPr>
            <a:r>
              <a:rPr lang="en-US" sz="1100" i="1" dirty="0">
                <a:solidFill>
                  <a:schemeClr val="accent6"/>
                </a:solidFill>
              </a:rPr>
              <a:t>Officer page</a:t>
            </a:r>
            <a:endParaRPr lang="en-US" sz="1100" dirty="0"/>
          </a:p>
        </p:txBody>
      </p:sp>
      <p:sp>
        <p:nvSpPr>
          <p:cNvPr id="21" name="4. Worker clears circle"/>
          <p:cNvSpPr/>
          <p:nvPr/>
        </p:nvSpPr>
        <p:spPr>
          <a:xfrm>
            <a:off x="7351776" y="1188720"/>
            <a:ext cx="822960" cy="822960"/>
          </a:xfrm>
          <a:prstGeom prst="ellipse">
            <a:avLst/>
          </a:prstGeom>
          <a:solidFill>
            <a:schemeClr val="accent1"/>
          </a:solidFill>
          <a:ln w="12700">
            <a:solidFill>
              <a:schemeClr val="accent1"/>
            </a:solidFill>
            <a:prstDash val="solid"/>
          </a:ln>
        </p:spPr>
      </p:sp>
      <p:pic>
        <p:nvPicPr>
          <p:cNvPr id="22" name="4. Worker clears icon" descr="preencoded.png">    </p:cNvPr>
          <p:cNvPicPr>
            <a:picLocks noChangeAspect="1"/>
          </p:cNvPicPr>
          <p:nvPr/>
        </p:nvPicPr>
        <p:blipFill>
          <a:blip r:embed="rId4"/>
          <a:stretch>
            <a:fillRect/>
          </a:stretch>
        </p:blipFill>
        <p:spPr>
          <a:xfrm>
            <a:off x="7557516" y="1394460"/>
            <a:ext cx="411480" cy="411480"/>
          </a:xfrm>
          <a:prstGeom prst="rect">
            <a:avLst/>
          </a:prstGeom>
        </p:spPr>
      </p:pic>
      <p:sp>
        <p:nvSpPr>
          <p:cNvPr id="23" name="Text 17"/>
          <p:cNvSpPr txBox="1"/>
          <p:nvPr/>
        </p:nvSpPr>
        <p:spPr>
          <a:xfrm>
            <a:off x="6848856" y="2194560"/>
            <a:ext cx="1828800" cy="365760"/>
          </a:xfrm>
          <a:prstGeom prst="rect">
            <a:avLst/>
          </a:prstGeom>
          <a:noFill/>
          <a:ln/>
        </p:spPr>
        <p:txBody>
          <a:bodyPr wrap="square" lIns="0" tIns="0" rIns="0" bIns="0" rtlCol="0" anchor="t"/>
          <a:lstStyle/>
          <a:p>
            <a:pPr algn="ctr" indent="0" marL="0">
              <a:buNone/>
            </a:pPr>
            <a:r>
              <a:rPr lang="en-US" sz="1600" b="1" dirty="0">
                <a:solidFill>
                  <a:schemeClr val="tx1"/>
                </a:solidFill>
                <a:latin typeface="Cambria" pitchFamily="34" charset="0"/>
                <a:ea typeface="Cambria" pitchFamily="34" charset="-122"/>
                <a:cs typeface="Cambria" pitchFamily="34" charset="-120"/>
              </a:rPr>
              <a:t>4. Worker clears</a:t>
            </a:r>
            <a:endParaRPr lang="en-US" sz="1600" dirty="0"/>
          </a:p>
        </p:txBody>
      </p:sp>
      <p:sp>
        <p:nvSpPr>
          <p:cNvPr id="24" name="Text 18"/>
          <p:cNvSpPr txBox="1"/>
          <p:nvPr/>
        </p:nvSpPr>
        <p:spPr>
          <a:xfrm>
            <a:off x="6848856" y="2606040"/>
            <a:ext cx="1828800" cy="914400"/>
          </a:xfrm>
          <a:prstGeom prst="rect">
            <a:avLst/>
          </a:prstGeom>
          <a:noFill/>
          <a:ln/>
        </p:spPr>
        <p:txBody>
          <a:bodyPr wrap="square" lIns="0" tIns="0" rIns="0" bIns="0" rtlCol="0" anchor="t"/>
          <a:lstStyle/>
          <a:p>
            <a:pPr algn="ctr" indent="0" marL="0">
              <a:buNone/>
            </a:pPr>
            <a:r>
              <a:rPr lang="en-US" sz="1400" dirty="0">
                <a:solidFill>
                  <a:schemeClr val="tx2"/>
                </a:solidFill>
              </a:rPr>
              <a:t>Cleans the block, uploads an "after" photo, taps Mark cleared.</a:t>
            </a:r>
            <a:endParaRPr lang="en-US" sz="1400" dirty="0"/>
          </a:p>
        </p:txBody>
      </p:sp>
      <p:sp>
        <p:nvSpPr>
          <p:cNvPr id="25" name="Text 19"/>
          <p:cNvSpPr txBox="1"/>
          <p:nvPr/>
        </p:nvSpPr>
        <p:spPr>
          <a:xfrm>
            <a:off x="6848856" y="3566160"/>
            <a:ext cx="1828800" cy="274320"/>
          </a:xfrm>
          <a:prstGeom prst="rect">
            <a:avLst/>
          </a:prstGeom>
          <a:noFill/>
          <a:ln/>
        </p:spPr>
        <p:txBody>
          <a:bodyPr wrap="square" lIns="0" tIns="0" rIns="0" bIns="0" rtlCol="0" anchor="t"/>
          <a:lstStyle/>
          <a:p>
            <a:pPr algn="ctr" indent="0" marL="0">
              <a:buNone/>
            </a:pPr>
            <a:r>
              <a:rPr lang="en-US" sz="1100" i="1" dirty="0">
                <a:solidFill>
                  <a:schemeClr val="accent6"/>
                </a:solidFill>
              </a:rPr>
              <a:t>Worker page</a:t>
            </a:r>
            <a:endParaRPr lang="en-US" sz="1100" dirty="0"/>
          </a:p>
        </p:txBody>
      </p:sp>
      <p:sp>
        <p:nvSpPr>
          <p:cNvPr id="26" name="Loop box"/>
          <p:cNvSpPr/>
          <p:nvPr/>
        </p:nvSpPr>
        <p:spPr>
          <a:xfrm>
            <a:off x="457200" y="4023360"/>
            <a:ext cx="8229600" cy="640080"/>
          </a:xfrm>
          <a:prstGeom prst="roundRect">
            <a:avLst>
              <a:gd name="adj" fmla="val 17143"/>
            </a:avLst>
          </a:prstGeom>
          <a:solidFill>
            <a:schemeClr val="accent5"/>
          </a:solidFill>
          <a:ln w="12700">
            <a:solidFill>
              <a:schemeClr val="accent5"/>
            </a:solidFill>
            <a:prstDash val="solid"/>
          </a:ln>
        </p:spPr>
      </p:sp>
      <p:pic>
        <p:nvPicPr>
          <p:cNvPr id="27" name="Loop icon" descr="preencoded.png">    </p:cNvPr>
          <p:cNvPicPr>
            <a:picLocks noChangeAspect="1"/>
          </p:cNvPicPr>
          <p:nvPr/>
        </p:nvPicPr>
        <p:blipFill>
          <a:blip r:embed="rId5"/>
          <a:stretch>
            <a:fillRect/>
          </a:stretch>
        </p:blipFill>
        <p:spPr>
          <a:xfrm>
            <a:off x="685800" y="4160520"/>
            <a:ext cx="365760" cy="365760"/>
          </a:xfrm>
          <a:prstGeom prst="rect">
            <a:avLst/>
          </a:prstGeom>
        </p:spPr>
      </p:pic>
      <p:sp>
        <p:nvSpPr>
          <p:cNvPr id="28" name="Text 21"/>
          <p:cNvSpPr txBox="1"/>
          <p:nvPr/>
        </p:nvSpPr>
        <p:spPr>
          <a:xfrm>
            <a:off x="1234440" y="4023360"/>
            <a:ext cx="7223760" cy="640080"/>
          </a:xfrm>
          <a:prstGeom prst="rect">
            <a:avLst/>
          </a:prstGeom>
          <a:noFill/>
          <a:ln/>
        </p:spPr>
        <p:txBody>
          <a:bodyPr wrap="square" lIns="0" tIns="0" rIns="0" bIns="0" rtlCol="0" anchor="ctr"/>
          <a:lstStyle/>
          <a:p>
            <a:pPr indent="0" marL="0">
              <a:buNone/>
            </a:pPr>
            <a:r>
              <a:rPr lang="en-US" sz="1500" dirty="0">
                <a:solidFill>
                  <a:schemeClr val="tx1"/>
                </a:solidFill>
              </a:rPr>
              <a:t>Block cleared  →  its risk drops  →  the map turns green. New reports start the loop again.</a:t>
            </a:r>
            <a:endParaRPr lang="en-US" sz="1500" dirty="0"/>
          </a:p>
        </p:txBody>
      </p:sp>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200" b="1" dirty="0">
                <a:solidFill>
                  <a:schemeClr val="tx1"/>
                </a:solidFill>
                <a:latin typeface="Cambria" pitchFamily="34" charset="0"/>
                <a:ea typeface="Cambria" pitchFamily="34" charset="-122"/>
                <a:cs typeface="Cambria" pitchFamily="34" charset="-120"/>
              </a:rPr>
              <a:t>How the computer guesses the risk</a:t>
            </a:r>
            <a:endParaRPr lang="en-US" sz="3200" dirty="0"/>
          </a:p>
        </p:txBody>
      </p:sp>
      <p:sp>
        <p:nvSpPr>
          <p:cNvPr id="3" name="Inputs card"/>
          <p:cNvSpPr/>
          <p:nvPr/>
        </p:nvSpPr>
        <p:spPr>
          <a:xfrm>
            <a:off x="457200" y="1143000"/>
            <a:ext cx="2788920" cy="3246120"/>
          </a:xfrm>
          <a:prstGeom prst="roundRect">
            <a:avLst>
              <a:gd name="adj" fmla="val 3934"/>
            </a:avLst>
          </a:prstGeom>
          <a:solidFill>
            <a:schemeClr val="bg1"/>
          </a:solidFill>
          <a:ln w="12700">
            <a:solidFill>
              <a:schemeClr val="bg1"/>
            </a:solidFill>
            <a:prstDash val="solid"/>
          </a:ln>
          <a:effectLst>
            <a:outerShdw sx="100000" sy="100000" kx="0" ky="0" algn="bl" rotWithShape="0" blurRad="76200" dist="25400" dir="5400000">
              <a:srgbClr val="8A7564">
                <a:alpha val="18000"/>
              </a:srgbClr>
            </a:outerShdw>
          </a:effectLst>
        </p:spPr>
      </p:sp>
      <p:sp>
        <p:nvSpPr>
          <p:cNvPr id="4" name="Text 2"/>
          <p:cNvSpPr txBox="1"/>
          <p:nvPr/>
        </p:nvSpPr>
        <p:spPr>
          <a:xfrm>
            <a:off x="640080" y="1280160"/>
            <a:ext cx="2468880" cy="320040"/>
          </a:xfrm>
          <a:prstGeom prst="rect">
            <a:avLst/>
          </a:prstGeom>
          <a:noFill/>
          <a:ln/>
        </p:spPr>
        <p:txBody>
          <a:bodyPr wrap="square" lIns="0" tIns="0" rIns="0" bIns="0" rtlCol="0" anchor="t"/>
          <a:lstStyle/>
          <a:p>
            <a:pPr indent="0" marL="0">
              <a:buNone/>
            </a:pPr>
            <a:r>
              <a:rPr lang="en-US" sz="1600" b="1" dirty="0">
                <a:solidFill>
                  <a:schemeClr val="tx1"/>
                </a:solidFill>
                <a:latin typeface="Cambria" pitchFamily="34" charset="0"/>
                <a:ea typeface="Cambria" pitchFamily="34" charset="-122"/>
                <a:cs typeface="Cambria" pitchFamily="34" charset="-120"/>
              </a:rPr>
              <a:t>What it looks at</a:t>
            </a:r>
            <a:endParaRPr lang="en-US" sz="1600" dirty="0"/>
          </a:p>
        </p:txBody>
      </p:sp>
      <p:pic>
        <p:nvPicPr>
          <p:cNvPr id="5" name="Reports since last pickup icon" descr="preencoded.png">    </p:cNvPr>
          <p:cNvPicPr>
            <a:picLocks noChangeAspect="1"/>
          </p:cNvPicPr>
          <p:nvPr/>
        </p:nvPicPr>
        <p:blipFill>
          <a:blip r:embed="rId1"/>
          <a:stretch>
            <a:fillRect/>
          </a:stretch>
        </p:blipFill>
        <p:spPr>
          <a:xfrm>
            <a:off x="640080" y="1746504"/>
            <a:ext cx="237744" cy="237744"/>
          </a:xfrm>
          <a:prstGeom prst="rect">
            <a:avLst/>
          </a:prstGeom>
        </p:spPr>
      </p:pic>
      <p:sp>
        <p:nvSpPr>
          <p:cNvPr id="6" name="Text 3"/>
          <p:cNvSpPr txBox="1"/>
          <p:nvPr/>
        </p:nvSpPr>
        <p:spPr>
          <a:xfrm>
            <a:off x="987552" y="1691640"/>
            <a:ext cx="2148840" cy="384048"/>
          </a:xfrm>
          <a:prstGeom prst="rect">
            <a:avLst/>
          </a:prstGeom>
          <a:noFill/>
          <a:ln/>
        </p:spPr>
        <p:txBody>
          <a:bodyPr wrap="square" lIns="0" tIns="0" rIns="0" bIns="0" rtlCol="0" anchor="ctr"/>
          <a:lstStyle/>
          <a:p>
            <a:pPr indent="0" marL="0">
              <a:buNone/>
            </a:pPr>
            <a:r>
              <a:rPr lang="en-US" sz="1400" dirty="0">
                <a:solidFill>
                  <a:schemeClr val="tx1"/>
                </a:solidFill>
              </a:rPr>
              <a:t>Reports since last pickup</a:t>
            </a:r>
            <a:endParaRPr lang="en-US" sz="1400" dirty="0"/>
          </a:p>
        </p:txBody>
      </p:sp>
      <p:pic>
        <p:nvPicPr>
          <p:cNvPr id="7" name="Days since last pickup icon" descr="preencoded.png">    </p:cNvPr>
          <p:cNvPicPr>
            <a:picLocks noChangeAspect="1"/>
          </p:cNvPicPr>
          <p:nvPr/>
        </p:nvPicPr>
        <p:blipFill>
          <a:blip r:embed="rId2"/>
          <a:stretch>
            <a:fillRect/>
          </a:stretch>
        </p:blipFill>
        <p:spPr>
          <a:xfrm>
            <a:off x="640080" y="2185416"/>
            <a:ext cx="237744" cy="237744"/>
          </a:xfrm>
          <a:prstGeom prst="rect">
            <a:avLst/>
          </a:prstGeom>
        </p:spPr>
      </p:pic>
      <p:sp>
        <p:nvSpPr>
          <p:cNvPr id="8" name="Text 4"/>
          <p:cNvSpPr txBox="1"/>
          <p:nvPr/>
        </p:nvSpPr>
        <p:spPr>
          <a:xfrm>
            <a:off x="987552" y="2130552"/>
            <a:ext cx="2148840" cy="384048"/>
          </a:xfrm>
          <a:prstGeom prst="rect">
            <a:avLst/>
          </a:prstGeom>
          <a:noFill/>
          <a:ln/>
        </p:spPr>
        <p:txBody>
          <a:bodyPr wrap="square" lIns="0" tIns="0" rIns="0" bIns="0" rtlCol="0" anchor="ctr"/>
          <a:lstStyle/>
          <a:p>
            <a:pPr indent="0" marL="0">
              <a:buNone/>
            </a:pPr>
            <a:r>
              <a:rPr lang="en-US" sz="1400" dirty="0">
                <a:solidFill>
                  <a:schemeClr val="tx1"/>
                </a:solidFill>
              </a:rPr>
              <a:t>Days since last pickup</a:t>
            </a:r>
            <a:endParaRPr lang="en-US" sz="1400" dirty="0"/>
          </a:p>
        </p:txBody>
      </p:sp>
      <p:pic>
        <p:nvPicPr>
          <p:cNvPr id="9" name="Near market, bus stand, open plot icon" descr="preencoded.png">    </p:cNvPr>
          <p:cNvPicPr>
            <a:picLocks noChangeAspect="1"/>
          </p:cNvPicPr>
          <p:nvPr/>
        </p:nvPicPr>
        <p:blipFill>
          <a:blip r:embed="rId3"/>
          <a:stretch>
            <a:fillRect/>
          </a:stretch>
        </p:blipFill>
        <p:spPr>
          <a:xfrm>
            <a:off x="640080" y="2624328"/>
            <a:ext cx="237744" cy="237744"/>
          </a:xfrm>
          <a:prstGeom prst="rect">
            <a:avLst/>
          </a:prstGeom>
        </p:spPr>
      </p:pic>
      <p:sp>
        <p:nvSpPr>
          <p:cNvPr id="10" name="Text 5"/>
          <p:cNvSpPr txBox="1"/>
          <p:nvPr/>
        </p:nvSpPr>
        <p:spPr>
          <a:xfrm>
            <a:off x="987552" y="2569464"/>
            <a:ext cx="2148840" cy="384048"/>
          </a:xfrm>
          <a:prstGeom prst="rect">
            <a:avLst/>
          </a:prstGeom>
          <a:noFill/>
          <a:ln/>
        </p:spPr>
        <p:txBody>
          <a:bodyPr wrap="square" lIns="0" tIns="0" rIns="0" bIns="0" rtlCol="0" anchor="ctr"/>
          <a:lstStyle/>
          <a:p>
            <a:pPr indent="0" marL="0">
              <a:buNone/>
            </a:pPr>
            <a:r>
              <a:rPr lang="en-US" sz="1400" dirty="0">
                <a:solidFill>
                  <a:schemeClr val="tx1"/>
                </a:solidFill>
              </a:rPr>
              <a:t>Near market, bus stand, open plot</a:t>
            </a:r>
            <a:endParaRPr lang="en-US" sz="1400" dirty="0"/>
          </a:p>
        </p:txBody>
      </p:sp>
      <p:pic>
        <p:nvPicPr>
          <p:cNvPr id="11" name="Foot traffic icon" descr="preencoded.png">    </p:cNvPr>
          <p:cNvPicPr>
            <a:picLocks noChangeAspect="1"/>
          </p:cNvPicPr>
          <p:nvPr/>
        </p:nvPicPr>
        <p:blipFill>
          <a:blip r:embed="rId4"/>
          <a:stretch>
            <a:fillRect/>
          </a:stretch>
        </p:blipFill>
        <p:spPr>
          <a:xfrm>
            <a:off x="640080" y="3063240"/>
            <a:ext cx="237744" cy="237744"/>
          </a:xfrm>
          <a:prstGeom prst="rect">
            <a:avLst/>
          </a:prstGeom>
        </p:spPr>
      </p:pic>
      <p:sp>
        <p:nvSpPr>
          <p:cNvPr id="12" name="Text 6"/>
          <p:cNvSpPr txBox="1"/>
          <p:nvPr/>
        </p:nvSpPr>
        <p:spPr>
          <a:xfrm>
            <a:off x="987552" y="3008376"/>
            <a:ext cx="2148840" cy="384048"/>
          </a:xfrm>
          <a:prstGeom prst="rect">
            <a:avLst/>
          </a:prstGeom>
          <a:noFill/>
          <a:ln/>
        </p:spPr>
        <p:txBody>
          <a:bodyPr wrap="square" lIns="0" tIns="0" rIns="0" bIns="0" rtlCol="0" anchor="ctr"/>
          <a:lstStyle/>
          <a:p>
            <a:pPr indent="0" marL="0">
              <a:buNone/>
            </a:pPr>
            <a:r>
              <a:rPr lang="en-US" sz="1400" dirty="0">
                <a:solidFill>
                  <a:schemeClr val="tx1"/>
                </a:solidFill>
              </a:rPr>
              <a:t>Foot traffic</a:t>
            </a:r>
            <a:endParaRPr lang="en-US" sz="1400" dirty="0"/>
          </a:p>
        </p:txBody>
      </p:sp>
      <p:pic>
        <p:nvPicPr>
          <p:cNvPr id="13" name="Market day coming icon" descr="preencoded.png">    </p:cNvPr>
          <p:cNvPicPr>
            <a:picLocks noChangeAspect="1"/>
          </p:cNvPicPr>
          <p:nvPr/>
        </p:nvPicPr>
        <p:blipFill>
          <a:blip r:embed="rId5"/>
          <a:stretch>
            <a:fillRect/>
          </a:stretch>
        </p:blipFill>
        <p:spPr>
          <a:xfrm>
            <a:off x="640080" y="3502152"/>
            <a:ext cx="237744" cy="237744"/>
          </a:xfrm>
          <a:prstGeom prst="rect">
            <a:avLst/>
          </a:prstGeom>
        </p:spPr>
      </p:pic>
      <p:sp>
        <p:nvSpPr>
          <p:cNvPr id="14" name="Text 7"/>
          <p:cNvSpPr txBox="1"/>
          <p:nvPr/>
        </p:nvSpPr>
        <p:spPr>
          <a:xfrm>
            <a:off x="987552" y="3447288"/>
            <a:ext cx="2148840" cy="384048"/>
          </a:xfrm>
          <a:prstGeom prst="rect">
            <a:avLst/>
          </a:prstGeom>
          <a:noFill/>
          <a:ln/>
        </p:spPr>
        <p:txBody>
          <a:bodyPr wrap="square" lIns="0" tIns="0" rIns="0" bIns="0" rtlCol="0" anchor="ctr"/>
          <a:lstStyle/>
          <a:p>
            <a:pPr indent="0" marL="0">
              <a:buNone/>
            </a:pPr>
            <a:r>
              <a:rPr lang="en-US" sz="1400" dirty="0">
                <a:solidFill>
                  <a:schemeClr val="tx1"/>
                </a:solidFill>
              </a:rPr>
              <a:t>Market day coming</a:t>
            </a:r>
            <a:endParaRPr lang="en-US" sz="1400" dirty="0"/>
          </a:p>
        </p:txBody>
      </p:sp>
      <p:pic>
        <p:nvPicPr>
          <p:cNvPr id="15" name="Rain forecast icon" descr="preencoded.png">    </p:cNvPr>
          <p:cNvPicPr>
            <a:picLocks noChangeAspect="1"/>
          </p:cNvPicPr>
          <p:nvPr/>
        </p:nvPicPr>
        <p:blipFill>
          <a:blip r:embed="rId6"/>
          <a:stretch>
            <a:fillRect/>
          </a:stretch>
        </p:blipFill>
        <p:spPr>
          <a:xfrm>
            <a:off x="640080" y="3941064"/>
            <a:ext cx="237744" cy="237744"/>
          </a:xfrm>
          <a:prstGeom prst="rect">
            <a:avLst/>
          </a:prstGeom>
        </p:spPr>
      </p:pic>
      <p:sp>
        <p:nvSpPr>
          <p:cNvPr id="16" name="Text 8"/>
          <p:cNvSpPr txBox="1"/>
          <p:nvPr/>
        </p:nvSpPr>
        <p:spPr>
          <a:xfrm>
            <a:off x="987552" y="3886200"/>
            <a:ext cx="2148840" cy="384048"/>
          </a:xfrm>
          <a:prstGeom prst="rect">
            <a:avLst/>
          </a:prstGeom>
          <a:noFill/>
          <a:ln/>
        </p:spPr>
        <p:txBody>
          <a:bodyPr wrap="square" lIns="0" tIns="0" rIns="0" bIns="0" rtlCol="0" anchor="ctr"/>
          <a:lstStyle/>
          <a:p>
            <a:pPr indent="0" marL="0">
              <a:buNone/>
            </a:pPr>
            <a:r>
              <a:rPr lang="en-US" sz="1400" dirty="0">
                <a:solidFill>
                  <a:schemeClr val="tx1"/>
                </a:solidFill>
              </a:rPr>
              <a:t>Rain forecast</a:t>
            </a:r>
            <a:endParaRPr lang="en-US" sz="1400" dirty="0"/>
          </a:p>
        </p:txBody>
      </p:sp>
      <p:sp>
        <p:nvSpPr>
          <p:cNvPr id="17" name="Arrow to model"/>
          <p:cNvSpPr/>
          <p:nvPr/>
        </p:nvSpPr>
        <p:spPr>
          <a:xfrm>
            <a:off x="3310128" y="2743200"/>
            <a:ext cx="365760" cy="0"/>
          </a:xfrm>
          <a:prstGeom prst="line">
            <a:avLst/>
          </a:prstGeom>
          <a:noFill/>
          <a:ln w="25400">
            <a:solidFill>
              <a:schemeClr val="accent1"/>
            </a:solidFill>
            <a:prstDash val="solid"/>
            <a:tailEnd type="triangle"/>
          </a:ln>
        </p:spPr>
      </p:sp>
      <p:sp>
        <p:nvSpPr>
          <p:cNvPr id="18" name="Model card"/>
          <p:cNvSpPr/>
          <p:nvPr/>
        </p:nvSpPr>
        <p:spPr>
          <a:xfrm>
            <a:off x="3749040" y="1143000"/>
            <a:ext cx="2103120" cy="3246120"/>
          </a:xfrm>
          <a:prstGeom prst="roundRect">
            <a:avLst>
              <a:gd name="adj" fmla="val 5217"/>
            </a:avLst>
          </a:prstGeom>
          <a:solidFill>
            <a:schemeClr val="accent5"/>
          </a:solidFill>
          <a:ln w="12700">
            <a:solidFill>
              <a:schemeClr val="accent5"/>
            </a:solidFill>
            <a:prstDash val="solid"/>
          </a:ln>
          <a:effectLst>
            <a:outerShdw sx="100000" sy="100000" kx="0" ky="0" algn="bl" rotWithShape="0" blurRad="76200" dist="25400" dir="5400000">
              <a:srgbClr val="8A7564">
                <a:alpha val="18000"/>
              </a:srgbClr>
            </a:outerShdw>
          </a:effectLst>
        </p:spPr>
      </p:sp>
      <p:sp>
        <p:nvSpPr>
          <p:cNvPr id="19" name="Model circle"/>
          <p:cNvSpPr/>
          <p:nvPr/>
        </p:nvSpPr>
        <p:spPr>
          <a:xfrm>
            <a:off x="4434840" y="1325880"/>
            <a:ext cx="731520" cy="731520"/>
          </a:xfrm>
          <a:prstGeom prst="ellipse">
            <a:avLst/>
          </a:prstGeom>
          <a:solidFill>
            <a:schemeClr val="accent1"/>
          </a:solidFill>
          <a:ln w="12700">
            <a:solidFill>
              <a:schemeClr val="accent1"/>
            </a:solidFill>
            <a:prstDash val="solid"/>
          </a:ln>
        </p:spPr>
      </p:sp>
      <p:pic>
        <p:nvPicPr>
          <p:cNvPr id="20" name="Model icon" descr="preencoded.png">    </p:cNvPr>
          <p:cNvPicPr>
            <a:picLocks noChangeAspect="1"/>
          </p:cNvPicPr>
          <p:nvPr/>
        </p:nvPicPr>
        <p:blipFill>
          <a:blip r:embed="rId7"/>
          <a:stretch>
            <a:fillRect/>
          </a:stretch>
        </p:blipFill>
        <p:spPr>
          <a:xfrm>
            <a:off x="4617720" y="1508760"/>
            <a:ext cx="365760" cy="365760"/>
          </a:xfrm>
          <a:prstGeom prst="rect">
            <a:avLst/>
          </a:prstGeom>
        </p:spPr>
      </p:pic>
      <p:sp>
        <p:nvSpPr>
          <p:cNvPr id="21" name="Text 12"/>
          <p:cNvSpPr txBox="1"/>
          <p:nvPr/>
        </p:nvSpPr>
        <p:spPr>
          <a:xfrm>
            <a:off x="3886200" y="2148840"/>
            <a:ext cx="1828800" cy="320040"/>
          </a:xfrm>
          <a:prstGeom prst="rect">
            <a:avLst/>
          </a:prstGeom>
          <a:noFill/>
          <a:ln/>
        </p:spPr>
        <p:txBody>
          <a:bodyPr wrap="square" lIns="0" tIns="0" rIns="0" bIns="0" rtlCol="0" anchor="t"/>
          <a:lstStyle/>
          <a:p>
            <a:pPr algn="ctr" indent="0" marL="0">
              <a:buNone/>
            </a:pPr>
            <a:r>
              <a:rPr lang="en-US" sz="1600" b="1" dirty="0">
                <a:solidFill>
                  <a:schemeClr val="tx1"/>
                </a:solidFill>
                <a:latin typeface="Cambria" pitchFamily="34" charset="0"/>
                <a:ea typeface="Cambria" pitchFamily="34" charset="-122"/>
                <a:cs typeface="Cambria" pitchFamily="34" charset="-120"/>
              </a:rPr>
              <a:t>ML model</a:t>
            </a:r>
            <a:endParaRPr lang="en-US" sz="1600" dirty="0"/>
          </a:p>
        </p:txBody>
      </p:sp>
      <p:sp>
        <p:nvSpPr>
          <p:cNvPr id="22" name="Text 13"/>
          <p:cNvSpPr txBox="1"/>
          <p:nvPr/>
        </p:nvSpPr>
        <p:spPr>
          <a:xfrm>
            <a:off x="3886200" y="2514600"/>
            <a:ext cx="1828800" cy="914400"/>
          </a:xfrm>
          <a:prstGeom prst="rect">
            <a:avLst/>
          </a:prstGeom>
          <a:noFill/>
          <a:ln/>
        </p:spPr>
        <p:txBody>
          <a:bodyPr wrap="square" lIns="0" tIns="0" rIns="0" bIns="0" rtlCol="0" anchor="t"/>
          <a:lstStyle/>
          <a:p>
            <a:pPr algn="ctr" indent="0" marL="0">
              <a:buNone/>
            </a:pPr>
            <a:r>
              <a:rPr lang="en-US" sz="1400" dirty="0">
                <a:solidFill>
                  <a:schemeClr val="tx2"/>
                </a:solidFill>
              </a:rPr>
              <a:t>Learned from a year of sample data which patterns lead to a pile.</a:t>
            </a:r>
            <a:endParaRPr lang="en-US" sz="1400" dirty="0"/>
          </a:p>
        </p:txBody>
      </p:sp>
      <p:sp>
        <p:nvSpPr>
          <p:cNvPr id="23" name="Text 14"/>
          <p:cNvSpPr txBox="1"/>
          <p:nvPr/>
        </p:nvSpPr>
        <p:spPr>
          <a:xfrm>
            <a:off x="3886200" y="3657600"/>
            <a:ext cx="1828800" cy="548640"/>
          </a:xfrm>
          <a:prstGeom prst="rect">
            <a:avLst/>
          </a:prstGeom>
          <a:noFill/>
          <a:ln/>
        </p:spPr>
        <p:txBody>
          <a:bodyPr wrap="square" lIns="0" tIns="0" rIns="0" bIns="0" rtlCol="0" anchor="t"/>
          <a:lstStyle/>
          <a:p>
            <a:pPr algn="ctr" indent="0" marL="0">
              <a:buNone/>
            </a:pPr>
            <a:r>
              <a:rPr lang="en-US" sz="1400" b="1" dirty="0">
                <a:solidFill>
                  <a:schemeClr val="tx2"/>
                </a:solidFill>
              </a:rPr>
              <a:t>SHAP then explains why</a:t>
            </a:r>
            <a:endParaRPr lang="en-US" sz="1400" dirty="0"/>
          </a:p>
        </p:txBody>
      </p:sp>
      <p:sp>
        <p:nvSpPr>
          <p:cNvPr id="24" name="Arrow to output"/>
          <p:cNvSpPr/>
          <p:nvPr/>
        </p:nvSpPr>
        <p:spPr>
          <a:xfrm>
            <a:off x="5916168" y="2743200"/>
            <a:ext cx="365760" cy="0"/>
          </a:xfrm>
          <a:prstGeom prst="line">
            <a:avLst/>
          </a:prstGeom>
          <a:noFill/>
          <a:ln w="25400">
            <a:solidFill>
              <a:schemeClr val="accent1"/>
            </a:solidFill>
            <a:prstDash val="solid"/>
            <a:tailEnd type="triangle"/>
          </a:ln>
        </p:spPr>
      </p:sp>
      <p:sp>
        <p:nvSpPr>
          <p:cNvPr id="25" name="Output card"/>
          <p:cNvSpPr/>
          <p:nvPr/>
        </p:nvSpPr>
        <p:spPr>
          <a:xfrm>
            <a:off x="6355080" y="1143000"/>
            <a:ext cx="2331720" cy="3246120"/>
          </a:xfrm>
          <a:prstGeom prst="roundRect">
            <a:avLst>
              <a:gd name="adj" fmla="val 4706"/>
            </a:avLst>
          </a:prstGeom>
          <a:solidFill>
            <a:schemeClr val="bg1"/>
          </a:solidFill>
          <a:ln w="12700">
            <a:solidFill>
              <a:schemeClr val="bg1"/>
            </a:solidFill>
            <a:prstDash val="solid"/>
          </a:ln>
          <a:effectLst>
            <a:outerShdw sx="100000" sy="100000" kx="0" ky="0" algn="bl" rotWithShape="0" blurRad="76200" dist="25400" dir="5400000">
              <a:srgbClr val="8A7564">
                <a:alpha val="18000"/>
              </a:srgbClr>
            </a:outerShdw>
          </a:effectLst>
        </p:spPr>
      </p:sp>
      <p:sp>
        <p:nvSpPr>
          <p:cNvPr id="26" name="Text 17"/>
          <p:cNvSpPr txBox="1"/>
          <p:nvPr/>
        </p:nvSpPr>
        <p:spPr>
          <a:xfrm>
            <a:off x="6537960" y="1280160"/>
            <a:ext cx="2011680" cy="320040"/>
          </a:xfrm>
          <a:prstGeom prst="rect">
            <a:avLst/>
          </a:prstGeom>
          <a:noFill/>
          <a:ln/>
        </p:spPr>
        <p:txBody>
          <a:bodyPr wrap="square" lIns="0" tIns="0" rIns="0" bIns="0" rtlCol="0" anchor="t"/>
          <a:lstStyle/>
          <a:p>
            <a:pPr indent="0" marL="0">
              <a:buNone/>
            </a:pPr>
            <a:r>
              <a:rPr lang="en-US" sz="1600" b="1" dirty="0">
                <a:solidFill>
                  <a:schemeClr val="tx1"/>
                </a:solidFill>
                <a:latin typeface="Cambria" pitchFamily="34" charset="0"/>
                <a:ea typeface="Cambria" pitchFamily="34" charset="-122"/>
                <a:cs typeface="Cambria" pitchFamily="34" charset="-120"/>
              </a:rPr>
              <a:t>Example: block D4</a:t>
            </a:r>
            <a:endParaRPr lang="en-US" sz="1600" dirty="0"/>
          </a:p>
        </p:txBody>
      </p:sp>
      <p:sp>
        <p:nvSpPr>
          <p:cNvPr id="27" name="Text 18"/>
          <p:cNvSpPr txBox="1"/>
          <p:nvPr/>
        </p:nvSpPr>
        <p:spPr>
          <a:xfrm>
            <a:off x="6537960" y="1645920"/>
            <a:ext cx="2011680" cy="685800"/>
          </a:xfrm>
          <a:prstGeom prst="rect">
            <a:avLst/>
          </a:prstGeom>
          <a:noFill/>
          <a:ln/>
        </p:spPr>
        <p:txBody>
          <a:bodyPr wrap="square" lIns="0" tIns="0" rIns="0" bIns="0" rtlCol="0" anchor="t"/>
          <a:lstStyle/>
          <a:p>
            <a:pPr indent="0" marL="0">
              <a:buNone/>
            </a:pPr>
            <a:r>
              <a:rPr lang="en-US" sz="4400" b="1" dirty="0">
                <a:solidFill>
                  <a:schemeClr val="accent2"/>
                </a:solidFill>
                <a:latin typeface="Cambria" pitchFamily="34" charset="0"/>
                <a:ea typeface="Cambria" pitchFamily="34" charset="-122"/>
                <a:cs typeface="Cambria" pitchFamily="34" charset="-120"/>
              </a:rPr>
              <a:t>40%</a:t>
            </a:r>
            <a:endParaRPr lang="en-US" sz="4400" dirty="0"/>
          </a:p>
        </p:txBody>
      </p:sp>
      <p:sp>
        <p:nvSpPr>
          <p:cNvPr id="28" name="Text 19"/>
          <p:cNvSpPr txBox="1"/>
          <p:nvPr/>
        </p:nvSpPr>
        <p:spPr>
          <a:xfrm>
            <a:off x="6537960" y="2331720"/>
            <a:ext cx="2011680" cy="274320"/>
          </a:xfrm>
          <a:prstGeom prst="rect">
            <a:avLst/>
          </a:prstGeom>
          <a:noFill/>
          <a:ln/>
        </p:spPr>
        <p:txBody>
          <a:bodyPr wrap="square" lIns="0" tIns="0" rIns="0" bIns="0" rtlCol="0" anchor="t"/>
          <a:lstStyle/>
          <a:p>
            <a:pPr indent="0" marL="0">
              <a:buNone/>
            </a:pPr>
            <a:r>
              <a:rPr lang="en-US" sz="1200" dirty="0">
                <a:solidFill>
                  <a:schemeClr val="accent6"/>
                </a:solidFill>
              </a:rPr>
              <a:t>chance of a pile in 48 h</a:t>
            </a:r>
            <a:endParaRPr lang="en-US" sz="1200" dirty="0"/>
          </a:p>
        </p:txBody>
      </p:sp>
      <p:sp>
        <p:nvSpPr>
          <p:cNvPr id="29" name="Text 20"/>
          <p:cNvSpPr txBox="1"/>
          <p:nvPr/>
        </p:nvSpPr>
        <p:spPr>
          <a:xfrm>
            <a:off x="6537960" y="2743200"/>
            <a:ext cx="2057400" cy="1463040"/>
          </a:xfrm>
          <a:prstGeom prst="rect">
            <a:avLst/>
          </a:prstGeom>
          <a:noFill/>
          <a:ln/>
        </p:spPr>
        <p:txBody>
          <a:bodyPr wrap="square" lIns="0" tIns="0" rIns="0" bIns="0" rtlCol="0" anchor="t"/>
          <a:lstStyle/>
          <a:p>
            <a:pPr marL="342900" indent="-342900">
              <a:spcAft>
                <a:spcPts val="400"/>
              </a:spcAft>
              <a:buSzPct val="100000"/>
              <a:buFont typeface="+mj-lt"/>
              <a:buAutoNum type="arabicPeriod" startAt="1"/>
            </a:pPr>
            <a:r>
              <a:rPr lang="en-US" sz="1400" dirty="0">
                <a:solidFill>
                  <a:schemeClr val="tx1"/>
                </a:solidFill>
              </a:rPr>
              <a:t>Open plot nearby</a:t>
            </a:r>
            <a:endParaRPr lang="en-US" sz="1400" dirty="0"/>
          </a:p>
          <a:p>
            <a:pPr marL="342900" indent="-342900">
              <a:spcAft>
                <a:spcPts val="400"/>
              </a:spcAft>
              <a:buSzPct val="100000"/>
              <a:buFont typeface="+mj-lt"/>
              <a:buAutoNum type="arabicPeriod" startAt="1"/>
            </a:pPr>
            <a:r>
              <a:rPr lang="en-US" sz="1400" dirty="0">
                <a:solidFill>
                  <a:schemeClr val="tx1"/>
                </a:solidFill>
              </a:rPr>
              <a:t>3 days since pickup</a:t>
            </a:r>
            <a:endParaRPr lang="en-US" sz="1400" dirty="0"/>
          </a:p>
          <a:p>
            <a:pPr marL="342900" indent="-342900">
              <a:spcAft>
                <a:spcPts val="400"/>
              </a:spcAft>
              <a:buSzPct val="100000"/>
              <a:buFont typeface="+mj-lt"/>
              <a:buAutoNum type="arabicPeriod" startAt="1"/>
            </a:pPr>
            <a:r>
              <a:rPr lang="en-US" sz="1400" dirty="0">
                <a:solidFill>
                  <a:schemeClr val="tx1"/>
                </a:solidFill>
              </a:rPr>
              <a:t>2 citizen reports</a:t>
            </a:r>
            <a:endParaRPr lang="en-US" sz="1400" dirty="0"/>
          </a:p>
        </p:txBody>
      </p:sp>
      <p:sp>
        <p:nvSpPr>
          <p:cNvPr id="30" name="Text 21"/>
          <p:cNvSpPr txBox="1"/>
          <p:nvPr/>
        </p:nvSpPr>
        <p:spPr>
          <a:xfrm>
            <a:off x="457200" y="4526280"/>
            <a:ext cx="7772400" cy="320040"/>
          </a:xfrm>
          <a:prstGeom prst="rect">
            <a:avLst/>
          </a:prstGeom>
          <a:noFill/>
          <a:ln/>
        </p:spPr>
        <p:txBody>
          <a:bodyPr wrap="square" lIns="0" tIns="0" rIns="0" bIns="0" rtlCol="0" anchor="t"/>
          <a:lstStyle/>
          <a:p>
            <a:pPr indent="0" marL="0">
              <a:buNone/>
            </a:pPr>
            <a:r>
              <a:rPr lang="en-US" sz="1200" i="1" dirty="0">
                <a:solidFill>
                  <a:schemeClr val="accent6"/>
                </a:solidFill>
              </a:rPr>
              <a:t>The Rain, Market day and Missed pickup buttons re-run the same model live, to answer "what if tomorrow…?"</a:t>
            </a:r>
            <a:endParaRPr lang="en-US" sz="1200" dirty="0"/>
          </a:p>
        </p:txBody>
      </p:sp>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200" b="1" dirty="0">
                <a:solidFill>
                  <a:schemeClr val="tx1"/>
                </a:solidFill>
                <a:latin typeface="Cambria" pitchFamily="34" charset="0"/>
                <a:ea typeface="Cambria" pitchFamily="34" charset="-122"/>
                <a:cs typeface="Cambria" pitchFamily="34" charset="-120"/>
              </a:rPr>
              <a:t>Which tool does which job</a:t>
            </a:r>
            <a:endParaRPr lang="en-US" sz="3200" dirty="0"/>
          </a:p>
        </p:txBody>
      </p:sp>
      <p:sp>
        <p:nvSpPr>
          <p:cNvPr id="3" name="What people see card"/>
          <p:cNvSpPr/>
          <p:nvPr/>
        </p:nvSpPr>
        <p:spPr>
          <a:xfrm>
            <a:off x="457200" y="1143000"/>
            <a:ext cx="2423160" cy="3108960"/>
          </a:xfrm>
          <a:prstGeom prst="roundRect">
            <a:avLst>
              <a:gd name="adj" fmla="val 4528"/>
            </a:avLst>
          </a:prstGeom>
          <a:solidFill>
            <a:schemeClr val="bg1"/>
          </a:solidFill>
          <a:ln w="12700">
            <a:solidFill>
              <a:schemeClr val="bg1"/>
            </a:solidFill>
            <a:prstDash val="solid"/>
          </a:ln>
          <a:effectLst>
            <a:outerShdw sx="100000" sy="100000" kx="0" ky="0" algn="bl" rotWithShape="0" blurRad="76200" dist="25400" dir="5400000">
              <a:srgbClr val="8A7564">
                <a:alpha val="18000"/>
              </a:srgbClr>
            </a:outerShdw>
          </a:effectLst>
        </p:spPr>
      </p:sp>
      <p:sp>
        <p:nvSpPr>
          <p:cNvPr id="4" name="What people see circle"/>
          <p:cNvSpPr/>
          <p:nvPr/>
        </p:nvSpPr>
        <p:spPr>
          <a:xfrm>
            <a:off x="640080" y="1325880"/>
            <a:ext cx="548640" cy="548640"/>
          </a:xfrm>
          <a:prstGeom prst="ellipse">
            <a:avLst/>
          </a:prstGeom>
          <a:solidFill>
            <a:schemeClr val="accent1"/>
          </a:solidFill>
          <a:ln w="12700">
            <a:solidFill>
              <a:schemeClr val="accent1"/>
            </a:solidFill>
            <a:prstDash val="solid"/>
          </a:ln>
        </p:spPr>
      </p:sp>
      <p:pic>
        <p:nvPicPr>
          <p:cNvPr id="5" name="What people see icon" descr="preencoded.png">    </p:cNvPr>
          <p:cNvPicPr>
            <a:picLocks noChangeAspect="1"/>
          </p:cNvPicPr>
          <p:nvPr/>
        </p:nvPicPr>
        <p:blipFill>
          <a:blip r:embed="rId1"/>
          <a:stretch>
            <a:fillRect/>
          </a:stretch>
        </p:blipFill>
        <p:spPr>
          <a:xfrm>
            <a:off x="777240" y="1463040"/>
            <a:ext cx="274320" cy="274320"/>
          </a:xfrm>
          <a:prstGeom prst="rect">
            <a:avLst/>
          </a:prstGeom>
        </p:spPr>
      </p:pic>
      <p:sp>
        <p:nvSpPr>
          <p:cNvPr id="6" name="Text 3"/>
          <p:cNvSpPr txBox="1"/>
          <p:nvPr/>
        </p:nvSpPr>
        <p:spPr>
          <a:xfrm>
            <a:off x="1325880" y="1325880"/>
            <a:ext cx="1463040" cy="548640"/>
          </a:xfrm>
          <a:prstGeom prst="rect">
            <a:avLst/>
          </a:prstGeom>
          <a:noFill/>
          <a:ln/>
        </p:spPr>
        <p:txBody>
          <a:bodyPr wrap="square" lIns="0" tIns="0" rIns="0" bIns="0" rtlCol="0" anchor="ctr"/>
          <a:lstStyle/>
          <a:p>
            <a:pPr indent="0" marL="0">
              <a:buNone/>
            </a:pPr>
            <a:r>
              <a:rPr lang="en-US" sz="1600" b="1" dirty="0">
                <a:solidFill>
                  <a:schemeClr val="tx1"/>
                </a:solidFill>
                <a:latin typeface="Cambria" pitchFamily="34" charset="0"/>
                <a:ea typeface="Cambria" pitchFamily="34" charset="-122"/>
                <a:cs typeface="Cambria" pitchFamily="34" charset="-120"/>
              </a:rPr>
              <a:t>What people see</a:t>
            </a:r>
            <a:endParaRPr lang="en-US" sz="1600" dirty="0"/>
          </a:p>
        </p:txBody>
      </p:sp>
      <p:sp>
        <p:nvSpPr>
          <p:cNvPr id="7" name="Text 4"/>
          <p:cNvSpPr txBox="1"/>
          <p:nvPr/>
        </p:nvSpPr>
        <p:spPr>
          <a:xfrm>
            <a:off x="640080" y="2057400"/>
            <a:ext cx="2103120" cy="2103120"/>
          </a:xfrm>
          <a:prstGeom prst="rect">
            <a:avLst/>
          </a:prstGeom>
          <a:noFill/>
          <a:ln/>
        </p:spPr>
        <p:txBody>
          <a:bodyPr wrap="square" lIns="0" tIns="0" rIns="0" bIns="0" rtlCol="0" anchor="t"/>
          <a:lstStyle/>
          <a:p>
            <a:pPr indent="0" marL="0">
              <a:spcAft>
                <a:spcPts val="600"/>
              </a:spcAft>
              <a:buNone/>
            </a:pPr>
            <a:r>
              <a:rPr lang="en-US" sz="1400" b="1" dirty="0">
                <a:solidFill>
                  <a:schemeClr val="tx1"/>
                </a:solidFill>
              </a:rPr>
              <a:t>React + Vite</a:t>
            </a:r>
            <a:endParaRPr lang="en-US" sz="1400" dirty="0"/>
          </a:p>
          <a:p>
            <a:pPr indent="0" marL="0">
              <a:spcAft>
                <a:spcPts val="600"/>
              </a:spcAft>
              <a:buNone/>
            </a:pPr>
            <a:r>
              <a:rPr lang="en-US" sz="1400" dirty="0">
                <a:solidFill>
                  <a:schemeClr val="tx1"/>
                </a:solidFill>
              </a:rPr>
              <a:t>the pages</a:t>
            </a:r>
            <a:endParaRPr lang="en-US" sz="1400" dirty="0"/>
          </a:p>
          <a:p>
            <a:pPr indent="0" marL="0">
              <a:spcAft>
                <a:spcPts val="600"/>
              </a:spcAft>
              <a:buNone/>
            </a:pPr>
            <a:r>
              <a:rPr lang="en-US" sz="1400" b="1" dirty="0">
                <a:solidFill>
                  <a:schemeClr val="tx1"/>
                </a:solidFill>
              </a:rPr>
              <a:t>React Router</a:t>
            </a:r>
            <a:endParaRPr lang="en-US" sz="1400" dirty="0"/>
          </a:p>
          <a:p>
            <a:pPr indent="0" marL="0">
              <a:spcAft>
                <a:spcPts val="600"/>
              </a:spcAft>
              <a:buNone/>
            </a:pPr>
            <a:r>
              <a:rPr lang="en-US" sz="1400" dirty="0">
                <a:solidFill>
                  <a:schemeClr val="tx1"/>
                </a:solidFill>
              </a:rPr>
              <a:t>Report, Officer, Worker</a:t>
            </a:r>
            <a:endParaRPr lang="en-US" sz="1400" dirty="0"/>
          </a:p>
          <a:p>
            <a:pPr indent="0" marL="0">
              <a:spcAft>
                <a:spcPts val="600"/>
              </a:spcAft>
              <a:buNone/>
            </a:pPr>
            <a:r>
              <a:rPr lang="en-US" sz="1400" b="1" dirty="0">
                <a:solidFill>
                  <a:schemeClr val="tx1"/>
                </a:solidFill>
              </a:rPr>
              <a:t>Leaflet + OpenStreetMap</a:t>
            </a:r>
            <a:endParaRPr lang="en-US" sz="1400" dirty="0"/>
          </a:p>
          <a:p>
            <a:pPr indent="0" marL="0">
              <a:spcAft>
                <a:spcPts val="600"/>
              </a:spcAft>
              <a:buNone/>
            </a:pPr>
            <a:r>
              <a:rPr lang="en-US" sz="1400" dirty="0">
                <a:solidFill>
                  <a:schemeClr val="tx1"/>
                </a:solidFill>
              </a:rPr>
              <a:t>the free map</a:t>
            </a:r>
            <a:endParaRPr lang="en-US" sz="1400" dirty="0"/>
          </a:p>
        </p:txBody>
      </p:sp>
      <p:sp>
        <p:nvSpPr>
          <p:cNvPr id="8" name="Arrow to backend"/>
          <p:cNvSpPr/>
          <p:nvPr/>
        </p:nvSpPr>
        <p:spPr>
          <a:xfrm>
            <a:off x="2926080" y="2697480"/>
            <a:ext cx="502920" cy="0"/>
          </a:xfrm>
          <a:prstGeom prst="line">
            <a:avLst/>
          </a:prstGeom>
          <a:noFill/>
          <a:ln w="25400">
            <a:solidFill>
              <a:schemeClr val="accent1"/>
            </a:solidFill>
            <a:prstDash val="solid"/>
            <a:tailEnd type="triangle"/>
          </a:ln>
        </p:spPr>
      </p:sp>
      <p:sp>
        <p:nvSpPr>
          <p:cNvPr id="9" name="Text 6"/>
          <p:cNvSpPr txBox="1"/>
          <p:nvPr/>
        </p:nvSpPr>
        <p:spPr>
          <a:xfrm>
            <a:off x="2880360" y="2377440"/>
            <a:ext cx="594360" cy="274320"/>
          </a:xfrm>
          <a:prstGeom prst="rect">
            <a:avLst/>
          </a:prstGeom>
          <a:noFill/>
          <a:ln/>
        </p:spPr>
        <p:txBody>
          <a:bodyPr wrap="square" lIns="0" tIns="0" rIns="0" bIns="0" rtlCol="0" anchor="t"/>
          <a:lstStyle/>
          <a:p>
            <a:pPr algn="ctr" indent="0" marL="0">
              <a:buNone/>
            </a:pPr>
            <a:r>
              <a:rPr lang="en-US" sz="1100" b="1" dirty="0">
                <a:solidFill>
                  <a:schemeClr val="accent6"/>
                </a:solidFill>
              </a:rPr>
              <a:t>API</a:t>
            </a:r>
            <a:endParaRPr lang="en-US" sz="1100" dirty="0"/>
          </a:p>
        </p:txBody>
      </p:sp>
      <p:sp>
        <p:nvSpPr>
          <p:cNvPr id="10" name="The server card"/>
          <p:cNvSpPr/>
          <p:nvPr/>
        </p:nvSpPr>
        <p:spPr>
          <a:xfrm>
            <a:off x="3474720" y="1143000"/>
            <a:ext cx="2423160" cy="3108960"/>
          </a:xfrm>
          <a:prstGeom prst="roundRect">
            <a:avLst>
              <a:gd name="adj" fmla="val 4528"/>
            </a:avLst>
          </a:prstGeom>
          <a:solidFill>
            <a:schemeClr val="bg1"/>
          </a:solidFill>
          <a:ln w="12700">
            <a:solidFill>
              <a:schemeClr val="bg1"/>
            </a:solidFill>
            <a:prstDash val="solid"/>
          </a:ln>
          <a:effectLst>
            <a:outerShdw sx="100000" sy="100000" kx="0" ky="0" algn="bl" rotWithShape="0" blurRad="76200" dist="25400" dir="5400000">
              <a:srgbClr val="8A7564">
                <a:alpha val="18000"/>
              </a:srgbClr>
            </a:outerShdw>
          </a:effectLst>
        </p:spPr>
      </p:sp>
      <p:sp>
        <p:nvSpPr>
          <p:cNvPr id="11" name="The server circle"/>
          <p:cNvSpPr/>
          <p:nvPr/>
        </p:nvSpPr>
        <p:spPr>
          <a:xfrm>
            <a:off x="3657600" y="1325880"/>
            <a:ext cx="548640" cy="548640"/>
          </a:xfrm>
          <a:prstGeom prst="ellipse">
            <a:avLst/>
          </a:prstGeom>
          <a:solidFill>
            <a:schemeClr val="accent1"/>
          </a:solidFill>
          <a:ln w="12700">
            <a:solidFill>
              <a:schemeClr val="accent1"/>
            </a:solidFill>
            <a:prstDash val="solid"/>
          </a:ln>
        </p:spPr>
      </p:sp>
      <p:pic>
        <p:nvPicPr>
          <p:cNvPr id="12" name="The server icon" descr="preencoded.png">    </p:cNvPr>
          <p:cNvPicPr>
            <a:picLocks noChangeAspect="1"/>
          </p:cNvPicPr>
          <p:nvPr/>
        </p:nvPicPr>
        <p:blipFill>
          <a:blip r:embed="rId2"/>
          <a:stretch>
            <a:fillRect/>
          </a:stretch>
        </p:blipFill>
        <p:spPr>
          <a:xfrm>
            <a:off x="3794760" y="1463040"/>
            <a:ext cx="274320" cy="274320"/>
          </a:xfrm>
          <a:prstGeom prst="rect">
            <a:avLst/>
          </a:prstGeom>
        </p:spPr>
      </p:pic>
      <p:sp>
        <p:nvSpPr>
          <p:cNvPr id="13" name="Text 9"/>
          <p:cNvSpPr txBox="1"/>
          <p:nvPr/>
        </p:nvSpPr>
        <p:spPr>
          <a:xfrm>
            <a:off x="4343400" y="1325880"/>
            <a:ext cx="1463040" cy="548640"/>
          </a:xfrm>
          <a:prstGeom prst="rect">
            <a:avLst/>
          </a:prstGeom>
          <a:noFill/>
          <a:ln/>
        </p:spPr>
        <p:txBody>
          <a:bodyPr wrap="square" lIns="0" tIns="0" rIns="0" bIns="0" rtlCol="0" anchor="ctr"/>
          <a:lstStyle/>
          <a:p>
            <a:pPr indent="0" marL="0">
              <a:buNone/>
            </a:pPr>
            <a:r>
              <a:rPr lang="en-US" sz="1600" b="1" dirty="0">
                <a:solidFill>
                  <a:schemeClr val="tx1"/>
                </a:solidFill>
                <a:latin typeface="Cambria" pitchFamily="34" charset="0"/>
                <a:ea typeface="Cambria" pitchFamily="34" charset="-122"/>
                <a:cs typeface="Cambria" pitchFamily="34" charset="-120"/>
              </a:rPr>
              <a:t>The server</a:t>
            </a:r>
            <a:endParaRPr lang="en-US" sz="1600" dirty="0"/>
          </a:p>
        </p:txBody>
      </p:sp>
      <p:sp>
        <p:nvSpPr>
          <p:cNvPr id="14" name="Text 10"/>
          <p:cNvSpPr txBox="1"/>
          <p:nvPr/>
        </p:nvSpPr>
        <p:spPr>
          <a:xfrm>
            <a:off x="3657600" y="2057400"/>
            <a:ext cx="2103120" cy="2103120"/>
          </a:xfrm>
          <a:prstGeom prst="rect">
            <a:avLst/>
          </a:prstGeom>
          <a:noFill/>
          <a:ln/>
        </p:spPr>
        <p:txBody>
          <a:bodyPr wrap="square" lIns="0" tIns="0" rIns="0" bIns="0" rtlCol="0" anchor="t"/>
          <a:lstStyle/>
          <a:p>
            <a:pPr indent="0" marL="0">
              <a:spcAft>
                <a:spcPts val="600"/>
              </a:spcAft>
              <a:buNone/>
            </a:pPr>
            <a:r>
              <a:rPr lang="en-US" sz="1400" b="1" dirty="0">
                <a:solidFill>
                  <a:schemeClr val="tx1"/>
                </a:solidFill>
              </a:rPr>
              <a:t>Django</a:t>
            </a:r>
            <a:endParaRPr lang="en-US" sz="1400" dirty="0"/>
          </a:p>
          <a:p>
            <a:pPr indent="0" marL="0">
              <a:spcAft>
                <a:spcPts val="600"/>
              </a:spcAft>
              <a:buNone/>
            </a:pPr>
            <a:r>
              <a:rPr lang="en-US" sz="1400" dirty="0">
                <a:solidFill>
                  <a:schemeClr val="tx1"/>
                </a:solidFill>
              </a:rPr>
              <a:t>runs the backend</a:t>
            </a:r>
            <a:endParaRPr lang="en-US" sz="1400" dirty="0"/>
          </a:p>
          <a:p>
            <a:pPr indent="0" marL="0">
              <a:spcAft>
                <a:spcPts val="600"/>
              </a:spcAft>
              <a:buNone/>
            </a:pPr>
            <a:r>
              <a:rPr lang="en-US" sz="1400" b="1" dirty="0">
                <a:solidFill>
                  <a:schemeClr val="tx1"/>
                </a:solidFill>
              </a:rPr>
              <a:t>Django REST Framework</a:t>
            </a:r>
            <a:endParaRPr lang="en-US" sz="1400" dirty="0"/>
          </a:p>
          <a:p>
            <a:pPr indent="0" marL="0">
              <a:spcAft>
                <a:spcPts val="600"/>
              </a:spcAft>
              <a:buNone/>
            </a:pPr>
            <a:r>
              <a:rPr lang="en-US" sz="1400" dirty="0">
                <a:solidFill>
                  <a:schemeClr val="tx1"/>
                </a:solidFill>
              </a:rPr>
              <a:t>/api/reports, /api/risk-map, /api/tasks</a:t>
            </a:r>
            <a:endParaRPr lang="en-US" sz="1400" dirty="0"/>
          </a:p>
          <a:p>
            <a:pPr indent="0" marL="0">
              <a:spcAft>
                <a:spcPts val="600"/>
              </a:spcAft>
              <a:buNone/>
            </a:pPr>
            <a:r>
              <a:rPr lang="en-US" sz="1400" b="1" dirty="0">
                <a:solidFill>
                  <a:schemeClr val="tx1"/>
                </a:solidFill>
              </a:rPr>
              <a:t>Token login</a:t>
            </a:r>
            <a:endParaRPr lang="en-US" sz="1400" dirty="0"/>
          </a:p>
          <a:p>
            <a:pPr indent="0" marL="0">
              <a:spcAft>
                <a:spcPts val="600"/>
              </a:spcAft>
              <a:buNone/>
            </a:pPr>
            <a:r>
              <a:rPr lang="en-US" sz="1400" dirty="0">
                <a:solidFill>
                  <a:schemeClr val="tx1"/>
                </a:solidFill>
              </a:rPr>
              <a:t>officer and worker roles</a:t>
            </a:r>
            <a:endParaRPr lang="en-US" sz="1400" dirty="0"/>
          </a:p>
        </p:txBody>
      </p:sp>
      <p:sp>
        <p:nvSpPr>
          <p:cNvPr id="15" name="Arrow to SQLite"/>
          <p:cNvSpPr/>
          <p:nvPr/>
        </p:nvSpPr>
        <p:spPr>
          <a:xfrm>
            <a:off x="5943600" y="1490472"/>
            <a:ext cx="274320" cy="0"/>
          </a:xfrm>
          <a:prstGeom prst="line">
            <a:avLst/>
          </a:prstGeom>
          <a:noFill/>
          <a:ln w="25400">
            <a:solidFill>
              <a:schemeClr val="accent1"/>
            </a:solidFill>
            <a:prstDash val="solid"/>
            <a:tailEnd type="triangle"/>
          </a:ln>
        </p:spPr>
      </p:sp>
      <p:sp>
        <p:nvSpPr>
          <p:cNvPr id="16" name="SQLite card"/>
          <p:cNvSpPr/>
          <p:nvPr/>
        </p:nvSpPr>
        <p:spPr>
          <a:xfrm>
            <a:off x="6263640" y="1143000"/>
            <a:ext cx="2423160" cy="685800"/>
          </a:xfrm>
          <a:prstGeom prst="roundRect">
            <a:avLst>
              <a:gd name="adj" fmla="val 16000"/>
            </a:avLst>
          </a:prstGeom>
          <a:solidFill>
            <a:schemeClr val="bg1"/>
          </a:solidFill>
          <a:ln w="12700">
            <a:solidFill>
              <a:schemeClr val="bg1"/>
            </a:solidFill>
            <a:prstDash val="solid"/>
          </a:ln>
          <a:effectLst>
            <a:outerShdw sx="100000" sy="100000" kx="0" ky="0" algn="bl" rotWithShape="0" blurRad="76200" dist="25400" dir="5400000">
              <a:srgbClr val="8A7564">
                <a:alpha val="18000"/>
              </a:srgbClr>
            </a:outerShdw>
          </a:effectLst>
        </p:spPr>
      </p:sp>
      <p:pic>
        <p:nvPicPr>
          <p:cNvPr id="17" name="SQLite icon" descr="preencoded.png">    </p:cNvPr>
          <p:cNvPicPr>
            <a:picLocks noChangeAspect="1"/>
          </p:cNvPicPr>
          <p:nvPr/>
        </p:nvPicPr>
        <p:blipFill>
          <a:blip r:embed="rId3"/>
          <a:stretch>
            <a:fillRect/>
          </a:stretch>
        </p:blipFill>
        <p:spPr>
          <a:xfrm>
            <a:off x="6400800" y="1325880"/>
            <a:ext cx="320040" cy="320040"/>
          </a:xfrm>
          <a:prstGeom prst="rect">
            <a:avLst/>
          </a:prstGeom>
        </p:spPr>
      </p:pic>
      <p:sp>
        <p:nvSpPr>
          <p:cNvPr id="18" name="Text 13"/>
          <p:cNvSpPr txBox="1"/>
          <p:nvPr/>
        </p:nvSpPr>
        <p:spPr>
          <a:xfrm>
            <a:off x="6858000" y="1216152"/>
            <a:ext cx="1783080" cy="274320"/>
          </a:xfrm>
          <a:prstGeom prst="rect">
            <a:avLst/>
          </a:prstGeom>
          <a:noFill/>
          <a:ln/>
        </p:spPr>
        <p:txBody>
          <a:bodyPr wrap="square" lIns="0" tIns="0" rIns="0" bIns="0" rtlCol="0" anchor="t"/>
          <a:lstStyle/>
          <a:p>
            <a:pPr indent="0" marL="0">
              <a:buNone/>
            </a:pPr>
            <a:r>
              <a:rPr lang="en-US" sz="1300" b="1" dirty="0">
                <a:solidFill>
                  <a:schemeClr val="tx1"/>
                </a:solidFill>
              </a:rPr>
              <a:t>SQLite</a:t>
            </a:r>
            <a:endParaRPr lang="en-US" sz="1300" dirty="0"/>
          </a:p>
        </p:txBody>
      </p:sp>
      <p:sp>
        <p:nvSpPr>
          <p:cNvPr id="19" name="Text 14"/>
          <p:cNvSpPr txBox="1"/>
          <p:nvPr/>
        </p:nvSpPr>
        <p:spPr>
          <a:xfrm>
            <a:off x="6858000" y="1490472"/>
            <a:ext cx="1783080" cy="274320"/>
          </a:xfrm>
          <a:prstGeom prst="rect">
            <a:avLst/>
          </a:prstGeom>
          <a:noFill/>
          <a:ln/>
        </p:spPr>
        <p:txBody>
          <a:bodyPr wrap="square" lIns="0" tIns="0" rIns="0" bIns="0" rtlCol="0" anchor="t"/>
          <a:lstStyle/>
          <a:p>
            <a:pPr indent="0" marL="0">
              <a:buNone/>
            </a:pPr>
            <a:r>
              <a:rPr lang="en-US" sz="1100" dirty="0">
                <a:solidFill>
                  <a:schemeClr val="accent6"/>
                </a:solidFill>
              </a:rPr>
              <a:t>Blocks, reports, scores, tasks</a:t>
            </a:r>
            <a:endParaRPr lang="en-US" sz="1100" dirty="0"/>
          </a:p>
        </p:txBody>
      </p:sp>
      <p:sp>
        <p:nvSpPr>
          <p:cNvPr id="20" name="Arrow to pandas, scikit-learn, SHAP"/>
          <p:cNvSpPr/>
          <p:nvPr/>
        </p:nvSpPr>
        <p:spPr>
          <a:xfrm>
            <a:off x="5943600" y="2295144"/>
            <a:ext cx="274320" cy="0"/>
          </a:xfrm>
          <a:prstGeom prst="line">
            <a:avLst/>
          </a:prstGeom>
          <a:noFill/>
          <a:ln w="25400">
            <a:solidFill>
              <a:schemeClr val="accent1"/>
            </a:solidFill>
            <a:prstDash val="solid"/>
            <a:tailEnd type="triangle"/>
          </a:ln>
        </p:spPr>
      </p:sp>
      <p:sp>
        <p:nvSpPr>
          <p:cNvPr id="21" name="pandas, scikit-learn, SHAP card"/>
          <p:cNvSpPr/>
          <p:nvPr/>
        </p:nvSpPr>
        <p:spPr>
          <a:xfrm>
            <a:off x="6263640" y="1947672"/>
            <a:ext cx="2423160" cy="685800"/>
          </a:xfrm>
          <a:prstGeom prst="roundRect">
            <a:avLst>
              <a:gd name="adj" fmla="val 16000"/>
            </a:avLst>
          </a:prstGeom>
          <a:solidFill>
            <a:schemeClr val="bg1"/>
          </a:solidFill>
          <a:ln w="12700">
            <a:solidFill>
              <a:schemeClr val="bg1"/>
            </a:solidFill>
            <a:prstDash val="solid"/>
          </a:ln>
          <a:effectLst>
            <a:outerShdw sx="100000" sy="100000" kx="0" ky="0" algn="bl" rotWithShape="0" blurRad="76200" dist="25400" dir="5400000">
              <a:srgbClr val="8A7564">
                <a:alpha val="18000"/>
              </a:srgbClr>
            </a:outerShdw>
          </a:effectLst>
        </p:spPr>
      </p:sp>
      <p:pic>
        <p:nvPicPr>
          <p:cNvPr id="22" name="pandas, scikit-learn, SHAP icon" descr="preencoded.png">    </p:cNvPr>
          <p:cNvPicPr>
            <a:picLocks noChangeAspect="1"/>
          </p:cNvPicPr>
          <p:nvPr/>
        </p:nvPicPr>
        <p:blipFill>
          <a:blip r:embed="rId4"/>
          <a:stretch>
            <a:fillRect/>
          </a:stretch>
        </p:blipFill>
        <p:spPr>
          <a:xfrm>
            <a:off x="6400800" y="2130552"/>
            <a:ext cx="320040" cy="320040"/>
          </a:xfrm>
          <a:prstGeom prst="rect">
            <a:avLst/>
          </a:prstGeom>
        </p:spPr>
      </p:pic>
      <p:sp>
        <p:nvSpPr>
          <p:cNvPr id="23" name="Text 17"/>
          <p:cNvSpPr txBox="1"/>
          <p:nvPr/>
        </p:nvSpPr>
        <p:spPr>
          <a:xfrm>
            <a:off x="6858000" y="2020824"/>
            <a:ext cx="1783080" cy="274320"/>
          </a:xfrm>
          <a:prstGeom prst="rect">
            <a:avLst/>
          </a:prstGeom>
          <a:noFill/>
          <a:ln/>
        </p:spPr>
        <p:txBody>
          <a:bodyPr wrap="square" lIns="0" tIns="0" rIns="0" bIns="0" rtlCol="0" anchor="t"/>
          <a:lstStyle/>
          <a:p>
            <a:pPr indent="0" marL="0">
              <a:buNone/>
            </a:pPr>
            <a:r>
              <a:rPr lang="en-US" sz="1300" b="1" dirty="0">
                <a:solidFill>
                  <a:schemeClr val="tx1"/>
                </a:solidFill>
              </a:rPr>
              <a:t>pandas, scikit-learn, SHAP</a:t>
            </a:r>
            <a:endParaRPr lang="en-US" sz="1300" dirty="0"/>
          </a:p>
        </p:txBody>
      </p:sp>
      <p:sp>
        <p:nvSpPr>
          <p:cNvPr id="24" name="Text 18"/>
          <p:cNvSpPr txBox="1"/>
          <p:nvPr/>
        </p:nvSpPr>
        <p:spPr>
          <a:xfrm>
            <a:off x="6858000" y="2295144"/>
            <a:ext cx="1783080" cy="274320"/>
          </a:xfrm>
          <a:prstGeom prst="rect">
            <a:avLst/>
          </a:prstGeom>
          <a:noFill/>
          <a:ln/>
        </p:spPr>
        <p:txBody>
          <a:bodyPr wrap="square" lIns="0" tIns="0" rIns="0" bIns="0" rtlCol="0" anchor="t"/>
          <a:lstStyle/>
          <a:p>
            <a:pPr indent="0" marL="0">
              <a:buNone/>
            </a:pPr>
            <a:r>
              <a:rPr lang="en-US" sz="1100" dirty="0">
                <a:solidFill>
                  <a:schemeClr val="accent6"/>
                </a:solidFill>
              </a:rPr>
              <a:t>Train, predict, explain</a:t>
            </a:r>
            <a:endParaRPr lang="en-US" sz="1100" dirty="0"/>
          </a:p>
        </p:txBody>
      </p:sp>
      <p:sp>
        <p:nvSpPr>
          <p:cNvPr id="25" name="Arrow to Open-Meteo"/>
          <p:cNvSpPr/>
          <p:nvPr/>
        </p:nvSpPr>
        <p:spPr>
          <a:xfrm>
            <a:off x="5943600" y="3099816"/>
            <a:ext cx="274320" cy="0"/>
          </a:xfrm>
          <a:prstGeom prst="line">
            <a:avLst/>
          </a:prstGeom>
          <a:noFill/>
          <a:ln w="25400">
            <a:solidFill>
              <a:schemeClr val="accent1"/>
            </a:solidFill>
            <a:prstDash val="solid"/>
            <a:tailEnd type="triangle"/>
          </a:ln>
        </p:spPr>
      </p:sp>
      <p:sp>
        <p:nvSpPr>
          <p:cNvPr id="26" name="Open-Meteo card"/>
          <p:cNvSpPr/>
          <p:nvPr/>
        </p:nvSpPr>
        <p:spPr>
          <a:xfrm>
            <a:off x="6263640" y="2752344"/>
            <a:ext cx="2423160" cy="685800"/>
          </a:xfrm>
          <a:prstGeom prst="roundRect">
            <a:avLst>
              <a:gd name="adj" fmla="val 16000"/>
            </a:avLst>
          </a:prstGeom>
          <a:solidFill>
            <a:schemeClr val="bg1"/>
          </a:solidFill>
          <a:ln w="12700">
            <a:solidFill>
              <a:schemeClr val="bg1"/>
            </a:solidFill>
            <a:prstDash val="solid"/>
          </a:ln>
          <a:effectLst>
            <a:outerShdw sx="100000" sy="100000" kx="0" ky="0" algn="bl" rotWithShape="0" blurRad="76200" dist="25400" dir="5400000">
              <a:srgbClr val="8A7564">
                <a:alpha val="18000"/>
              </a:srgbClr>
            </a:outerShdw>
          </a:effectLst>
        </p:spPr>
      </p:sp>
      <p:pic>
        <p:nvPicPr>
          <p:cNvPr id="27" name="Open-Meteo icon" descr="preencoded.png">    </p:cNvPr>
          <p:cNvPicPr>
            <a:picLocks noChangeAspect="1"/>
          </p:cNvPicPr>
          <p:nvPr/>
        </p:nvPicPr>
        <p:blipFill>
          <a:blip r:embed="rId5"/>
          <a:stretch>
            <a:fillRect/>
          </a:stretch>
        </p:blipFill>
        <p:spPr>
          <a:xfrm>
            <a:off x="6400800" y="2935224"/>
            <a:ext cx="320040" cy="320040"/>
          </a:xfrm>
          <a:prstGeom prst="rect">
            <a:avLst/>
          </a:prstGeom>
        </p:spPr>
      </p:pic>
      <p:sp>
        <p:nvSpPr>
          <p:cNvPr id="28" name="Text 21"/>
          <p:cNvSpPr txBox="1"/>
          <p:nvPr/>
        </p:nvSpPr>
        <p:spPr>
          <a:xfrm>
            <a:off x="6858000" y="2825496"/>
            <a:ext cx="1783080" cy="274320"/>
          </a:xfrm>
          <a:prstGeom prst="rect">
            <a:avLst/>
          </a:prstGeom>
          <a:noFill/>
          <a:ln/>
        </p:spPr>
        <p:txBody>
          <a:bodyPr wrap="square" lIns="0" tIns="0" rIns="0" bIns="0" rtlCol="0" anchor="t"/>
          <a:lstStyle/>
          <a:p>
            <a:pPr indent="0" marL="0">
              <a:buNone/>
            </a:pPr>
            <a:r>
              <a:rPr lang="en-US" sz="1300" b="1" dirty="0">
                <a:solidFill>
                  <a:schemeClr val="tx1"/>
                </a:solidFill>
              </a:rPr>
              <a:t>Open-Meteo</a:t>
            </a:r>
            <a:endParaRPr lang="en-US" sz="1300" dirty="0"/>
          </a:p>
        </p:txBody>
      </p:sp>
      <p:sp>
        <p:nvSpPr>
          <p:cNvPr id="29" name="Text 22"/>
          <p:cNvSpPr txBox="1"/>
          <p:nvPr/>
        </p:nvSpPr>
        <p:spPr>
          <a:xfrm>
            <a:off x="6858000" y="3099816"/>
            <a:ext cx="1783080" cy="274320"/>
          </a:xfrm>
          <a:prstGeom prst="rect">
            <a:avLst/>
          </a:prstGeom>
          <a:noFill/>
          <a:ln/>
        </p:spPr>
        <p:txBody>
          <a:bodyPr wrap="square" lIns="0" tIns="0" rIns="0" bIns="0" rtlCol="0" anchor="t"/>
          <a:lstStyle/>
          <a:p>
            <a:pPr indent="0" marL="0">
              <a:buNone/>
            </a:pPr>
            <a:r>
              <a:rPr lang="en-US" sz="1100" dirty="0">
                <a:solidFill>
                  <a:schemeClr val="accent6"/>
                </a:solidFill>
              </a:rPr>
              <a:t>Free rain forecast, no key</a:t>
            </a:r>
            <a:endParaRPr lang="en-US" sz="1100" dirty="0"/>
          </a:p>
        </p:txBody>
      </p:sp>
      <p:sp>
        <p:nvSpPr>
          <p:cNvPr id="30" name="Arrow to Photo AI (stub)"/>
          <p:cNvSpPr/>
          <p:nvPr/>
        </p:nvSpPr>
        <p:spPr>
          <a:xfrm>
            <a:off x="5943600" y="3904488"/>
            <a:ext cx="274320" cy="0"/>
          </a:xfrm>
          <a:prstGeom prst="line">
            <a:avLst/>
          </a:prstGeom>
          <a:noFill/>
          <a:ln w="25400">
            <a:solidFill>
              <a:schemeClr val="accent1"/>
            </a:solidFill>
            <a:prstDash val="solid"/>
            <a:tailEnd type="triangle"/>
          </a:ln>
        </p:spPr>
      </p:sp>
      <p:sp>
        <p:nvSpPr>
          <p:cNvPr id="31" name="Photo AI (stub) card"/>
          <p:cNvSpPr/>
          <p:nvPr/>
        </p:nvSpPr>
        <p:spPr>
          <a:xfrm>
            <a:off x="6263640" y="3557016"/>
            <a:ext cx="2423160" cy="685800"/>
          </a:xfrm>
          <a:prstGeom prst="roundRect">
            <a:avLst>
              <a:gd name="adj" fmla="val 16000"/>
            </a:avLst>
          </a:prstGeom>
          <a:solidFill>
            <a:schemeClr val="bg1"/>
          </a:solidFill>
          <a:ln w="12700">
            <a:solidFill>
              <a:schemeClr val="bg1"/>
            </a:solidFill>
            <a:prstDash val="solid"/>
          </a:ln>
          <a:effectLst>
            <a:outerShdw sx="100000" sy="100000" kx="0" ky="0" algn="bl" rotWithShape="0" blurRad="76200" dist="25400" dir="5400000">
              <a:srgbClr val="8A7564">
                <a:alpha val="18000"/>
              </a:srgbClr>
            </a:outerShdw>
          </a:effectLst>
        </p:spPr>
      </p:sp>
      <p:pic>
        <p:nvPicPr>
          <p:cNvPr id="32" name="Photo AI (stub) icon" descr="preencoded.png">    </p:cNvPr>
          <p:cNvPicPr>
            <a:picLocks noChangeAspect="1"/>
          </p:cNvPicPr>
          <p:nvPr/>
        </p:nvPicPr>
        <p:blipFill>
          <a:blip r:embed="rId6"/>
          <a:stretch>
            <a:fillRect/>
          </a:stretch>
        </p:blipFill>
        <p:spPr>
          <a:xfrm>
            <a:off x="6400800" y="3739896"/>
            <a:ext cx="320040" cy="320040"/>
          </a:xfrm>
          <a:prstGeom prst="rect">
            <a:avLst/>
          </a:prstGeom>
        </p:spPr>
      </p:pic>
      <p:sp>
        <p:nvSpPr>
          <p:cNvPr id="33" name="Text 25"/>
          <p:cNvSpPr txBox="1"/>
          <p:nvPr/>
        </p:nvSpPr>
        <p:spPr>
          <a:xfrm>
            <a:off x="6858000" y="3630168"/>
            <a:ext cx="1783080" cy="274320"/>
          </a:xfrm>
          <a:prstGeom prst="rect">
            <a:avLst/>
          </a:prstGeom>
          <a:noFill/>
          <a:ln/>
        </p:spPr>
        <p:txBody>
          <a:bodyPr wrap="square" lIns="0" tIns="0" rIns="0" bIns="0" rtlCol="0" anchor="t"/>
          <a:lstStyle/>
          <a:p>
            <a:pPr indent="0" marL="0">
              <a:buNone/>
            </a:pPr>
            <a:r>
              <a:rPr lang="en-US" sz="1300" b="1" dirty="0">
                <a:solidFill>
                  <a:schemeClr val="tx1"/>
                </a:solidFill>
              </a:rPr>
              <a:t>Photo AI (stub)</a:t>
            </a:r>
            <a:endParaRPr lang="en-US" sz="1300" dirty="0"/>
          </a:p>
        </p:txBody>
      </p:sp>
      <p:sp>
        <p:nvSpPr>
          <p:cNvPr id="34" name="Text 26"/>
          <p:cNvSpPr txBox="1"/>
          <p:nvPr/>
        </p:nvSpPr>
        <p:spPr>
          <a:xfrm>
            <a:off x="6858000" y="3904488"/>
            <a:ext cx="1783080" cy="274320"/>
          </a:xfrm>
          <a:prstGeom prst="rect">
            <a:avLst/>
          </a:prstGeom>
          <a:noFill/>
          <a:ln/>
        </p:spPr>
        <p:txBody>
          <a:bodyPr wrap="square" lIns="0" tIns="0" rIns="0" bIns="0" rtlCol="0" anchor="t"/>
          <a:lstStyle/>
          <a:p>
            <a:pPr indent="0" marL="0">
              <a:buNone/>
            </a:pPr>
            <a:r>
              <a:rPr lang="en-US" sz="1100" dirty="0">
                <a:solidFill>
                  <a:schemeClr val="accent6"/>
                </a:solidFill>
              </a:rPr>
              <a:t>Placeholder for now</a:t>
            </a:r>
            <a:endParaRPr lang="en-US" sz="1100" dirty="0"/>
          </a:p>
        </p:txBody>
      </p:sp>
      <p:sp>
        <p:nvSpPr>
          <p:cNvPr id="35" name="Text 27"/>
          <p:cNvSpPr txBox="1"/>
          <p:nvPr/>
        </p:nvSpPr>
        <p:spPr>
          <a:xfrm>
            <a:off x="457200" y="4434840"/>
            <a:ext cx="7772400" cy="320040"/>
          </a:xfrm>
          <a:prstGeom prst="rect">
            <a:avLst/>
          </a:prstGeom>
          <a:noFill/>
          <a:ln/>
        </p:spPr>
        <p:txBody>
          <a:bodyPr wrap="square" lIns="0" tIns="0" rIns="0" bIns="0" rtlCol="0" anchor="t"/>
          <a:lstStyle/>
          <a:p>
            <a:pPr indent="0" marL="0">
              <a:buNone/>
            </a:pPr>
            <a:r>
              <a:rPr lang="en-US" sz="1400" b="1" dirty="0">
                <a:solidFill>
                  <a:schemeClr val="tx2"/>
                </a:solidFill>
              </a:rPr>
              <a:t>Everything is free and open-source: no paid APIs, no API keys.</a:t>
            </a:r>
            <a:endParaRPr lang="en-US" sz="1400" dirty="0"/>
          </a:p>
        </p:txBody>
      </p:sp>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200" b="1" dirty="0">
                <a:solidFill>
                  <a:schemeClr val="bg2"/>
                </a:solidFill>
                <a:latin typeface="Cambria" pitchFamily="34" charset="0"/>
                <a:ea typeface="Cambria" pitchFamily="34" charset="-122"/>
                <a:cs typeface="Cambria" pitchFamily="34" charset="-120"/>
              </a:rPr>
              <a:t>What works today, and what comes next</a:t>
            </a:r>
            <a:endParaRPr lang="en-US" sz="3200" dirty="0"/>
          </a:p>
        </p:txBody>
      </p:sp>
      <p:pic>
        <p:nvPicPr>
          <p:cNvPr id="3" name="Working today icon" descr="preencoded.png">    </p:cNvPr>
          <p:cNvPicPr>
            <a:picLocks noChangeAspect="1"/>
          </p:cNvPicPr>
          <p:nvPr/>
        </p:nvPicPr>
        <p:blipFill>
          <a:blip r:embed="rId1"/>
          <a:stretch>
            <a:fillRect/>
          </a:stretch>
        </p:blipFill>
        <p:spPr>
          <a:xfrm>
            <a:off x="457200" y="1234440"/>
            <a:ext cx="411480" cy="411480"/>
          </a:xfrm>
          <a:prstGeom prst="rect">
            <a:avLst/>
          </a:prstGeom>
        </p:spPr>
      </p:pic>
      <p:sp>
        <p:nvSpPr>
          <p:cNvPr id="4" name="Text 1"/>
          <p:cNvSpPr txBox="1"/>
          <p:nvPr/>
        </p:nvSpPr>
        <p:spPr>
          <a:xfrm>
            <a:off x="1005840" y="1234440"/>
            <a:ext cx="3291840" cy="411480"/>
          </a:xfrm>
          <a:prstGeom prst="rect">
            <a:avLst/>
          </a:prstGeom>
          <a:noFill/>
          <a:ln/>
        </p:spPr>
        <p:txBody>
          <a:bodyPr wrap="square" lIns="0" tIns="0" rIns="0" bIns="0" rtlCol="0" anchor="ctr"/>
          <a:lstStyle/>
          <a:p>
            <a:pPr indent="0" marL="0">
              <a:buNone/>
            </a:pPr>
            <a:r>
              <a:rPr lang="en-US" sz="2000" b="1" dirty="0">
                <a:solidFill>
                  <a:schemeClr val="bg2"/>
                </a:solidFill>
                <a:latin typeface="Cambria" pitchFamily="34" charset="0"/>
                <a:ea typeface="Cambria" pitchFamily="34" charset="-122"/>
                <a:cs typeface="Cambria" pitchFamily="34" charset="-120"/>
              </a:rPr>
              <a:t>Working today</a:t>
            </a:r>
            <a:endParaRPr lang="en-US" sz="2000" dirty="0"/>
          </a:p>
        </p:txBody>
      </p:sp>
      <p:sp>
        <p:nvSpPr>
          <p:cNvPr id="5" name="Text 2"/>
          <p:cNvSpPr txBox="1"/>
          <p:nvPr/>
        </p:nvSpPr>
        <p:spPr>
          <a:xfrm>
            <a:off x="457200" y="1828800"/>
            <a:ext cx="3840480" cy="201168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accent5"/>
                </a:solidFill>
              </a:rPr>
              <a:t>Citizen report with photo + GPS</a:t>
            </a:r>
            <a:endParaRPr lang="en-US" sz="1600" dirty="0"/>
          </a:p>
          <a:p>
            <a:pPr marL="342900" indent="-342900">
              <a:spcAft>
                <a:spcPts val="800"/>
              </a:spcAft>
              <a:buSzPct val="100000"/>
              <a:buChar char="•"/>
            </a:pPr>
            <a:r>
              <a:rPr lang="en-US" sz="1600" dirty="0">
                <a:solidFill>
                  <a:schemeClr val="accent5"/>
                </a:solidFill>
              </a:rPr>
              <a:t>48 h risk map with reasons</a:t>
            </a:r>
            <a:endParaRPr lang="en-US" sz="1600" dirty="0"/>
          </a:p>
          <a:p>
            <a:pPr marL="342900" indent="-342900">
              <a:spcAft>
                <a:spcPts val="800"/>
              </a:spcAft>
              <a:buSzPct val="100000"/>
              <a:buChar char="•"/>
            </a:pPr>
            <a:r>
              <a:rPr lang="en-US" sz="1600" dirty="0">
                <a:solidFill>
                  <a:schemeClr val="accent5"/>
                </a:solidFill>
              </a:rPr>
              <a:t>What-if buttons</a:t>
            </a:r>
            <a:endParaRPr lang="en-US" sz="1600" dirty="0"/>
          </a:p>
          <a:p>
            <a:pPr marL="342900" indent="-342900">
              <a:spcAft>
                <a:spcPts val="800"/>
              </a:spcAft>
              <a:buSzPct val="100000"/>
              <a:buChar char="•"/>
            </a:pPr>
            <a:r>
              <a:rPr lang="en-US" sz="1600" dirty="0">
                <a:solidFill>
                  <a:schemeClr val="accent5"/>
                </a:solidFill>
              </a:rPr>
              <a:t>Assign team → after photo → cleared</a:t>
            </a:r>
            <a:endParaRPr lang="en-US" sz="1600" dirty="0"/>
          </a:p>
        </p:txBody>
      </p:sp>
      <p:pic>
        <p:nvPicPr>
          <p:cNvPr id="6" name="Next steps icon" descr="preencoded.png">    </p:cNvPr>
          <p:cNvPicPr>
            <a:picLocks noChangeAspect="1"/>
          </p:cNvPicPr>
          <p:nvPr/>
        </p:nvPicPr>
        <p:blipFill>
          <a:blip r:embed="rId2"/>
          <a:stretch>
            <a:fillRect/>
          </a:stretch>
        </p:blipFill>
        <p:spPr>
          <a:xfrm>
            <a:off x="4709160" y="1234440"/>
            <a:ext cx="411480" cy="411480"/>
          </a:xfrm>
          <a:prstGeom prst="rect">
            <a:avLst/>
          </a:prstGeom>
        </p:spPr>
      </p:pic>
      <p:sp>
        <p:nvSpPr>
          <p:cNvPr id="7" name="Text 3"/>
          <p:cNvSpPr txBox="1"/>
          <p:nvPr/>
        </p:nvSpPr>
        <p:spPr>
          <a:xfrm>
            <a:off x="5257800" y="1234440"/>
            <a:ext cx="3291840" cy="411480"/>
          </a:xfrm>
          <a:prstGeom prst="rect">
            <a:avLst/>
          </a:prstGeom>
          <a:noFill/>
          <a:ln/>
        </p:spPr>
        <p:txBody>
          <a:bodyPr wrap="square" lIns="0" tIns="0" rIns="0" bIns="0" rtlCol="0" anchor="ctr"/>
          <a:lstStyle/>
          <a:p>
            <a:pPr indent="0" marL="0">
              <a:buNone/>
            </a:pPr>
            <a:r>
              <a:rPr lang="en-US" sz="2000" b="1" dirty="0">
                <a:solidFill>
                  <a:schemeClr val="bg2"/>
                </a:solidFill>
                <a:latin typeface="Cambria" pitchFamily="34" charset="0"/>
                <a:ea typeface="Cambria" pitchFamily="34" charset="-122"/>
                <a:cs typeface="Cambria" pitchFamily="34" charset="-120"/>
              </a:rPr>
              <a:t>Next steps</a:t>
            </a:r>
            <a:endParaRPr lang="en-US" sz="2000" dirty="0"/>
          </a:p>
        </p:txBody>
      </p:sp>
      <p:sp>
        <p:nvSpPr>
          <p:cNvPr id="8" name="Text 4"/>
          <p:cNvSpPr txBox="1"/>
          <p:nvPr/>
        </p:nvSpPr>
        <p:spPr>
          <a:xfrm>
            <a:off x="4709160" y="1828800"/>
            <a:ext cx="3840480" cy="201168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accent5"/>
                </a:solidFill>
              </a:rPr>
              <a:t>Real ward data (now synthetic)</a:t>
            </a:r>
            <a:endParaRPr lang="en-US" sz="1600" dirty="0"/>
          </a:p>
          <a:p>
            <a:pPr marL="342900" indent="-342900">
              <a:spcAft>
                <a:spcPts val="800"/>
              </a:spcAft>
              <a:buSzPct val="100000"/>
              <a:buChar char="•"/>
            </a:pPr>
            <a:r>
              <a:rPr lang="en-US" sz="1600" dirty="0">
                <a:solidFill>
                  <a:schemeClr val="accent5"/>
                </a:solidFill>
              </a:rPr>
              <a:t>Real garbage-photo detector (now a stub)</a:t>
            </a:r>
            <a:endParaRPr lang="en-US" sz="1600" dirty="0"/>
          </a:p>
          <a:p>
            <a:pPr marL="342900" indent="-342900">
              <a:spcAft>
                <a:spcPts val="800"/>
              </a:spcAft>
              <a:buSzPct val="100000"/>
              <a:buChar char="•"/>
            </a:pPr>
            <a:r>
              <a:rPr lang="en-US" sz="1600" dirty="0">
                <a:solidFill>
                  <a:schemeClr val="accent5"/>
                </a:solidFill>
              </a:rPr>
              <a:t>Put it online with HTTPS so phones can use camera + GPS</a:t>
            </a:r>
            <a:endParaRPr lang="en-US" sz="1600" dirty="0"/>
          </a:p>
        </p:txBody>
      </p:sp>
      <p:sp>
        <p:nvSpPr>
          <p:cNvPr id="9" name="Text 5"/>
          <p:cNvSpPr txBox="1"/>
          <p:nvPr/>
        </p:nvSpPr>
        <p:spPr>
          <a:xfrm>
            <a:off x="457200" y="4023360"/>
            <a:ext cx="8229600" cy="457200"/>
          </a:xfrm>
          <a:prstGeom prst="rect">
            <a:avLst/>
          </a:prstGeom>
          <a:noFill/>
          <a:ln/>
        </p:spPr>
        <p:txBody>
          <a:bodyPr wrap="square" lIns="0" tIns="0" rIns="0" bIns="0" rtlCol="0" anchor="t"/>
          <a:lstStyle/>
          <a:p>
            <a:pPr indent="0" marL="0">
              <a:buNone/>
            </a:pPr>
            <a:r>
              <a:rPr lang="en-US" sz="2000" i="1" dirty="0">
                <a:solidFill>
                  <a:schemeClr val="accent3"/>
                </a:solidFill>
                <a:latin typeface="Cambria" pitchFamily="34" charset="0"/>
                <a:ea typeface="Cambria" pitchFamily="34" charset="-122"/>
                <a:cs typeface="Cambria" pitchFamily="34" charset="-120"/>
              </a:rPr>
              <a:t>From reacting to complaints → to preventing garbage spots.</a:t>
            </a:r>
            <a:endParaRPr lang="en-US" sz="2000" dirty="0"/>
          </a:p>
        </p:txBody>
      </p:sp>
    </p:spTree>
  </p:cSld>
  <p:clrMapOvr>
    <a:masterClrMapping/>
  </p:clrMapOvr>
</p:sld>
</file>

<file path=ppt/theme/theme1.xml><?xml version="1.0" encoding="utf-8"?>
<a:theme xmlns:a="http://schemas.openxmlformats.org/drawingml/2006/main" name="WasteWatch Beige">
  <a:themeElements>
    <a:clrScheme name="WasteWatch Beige">
      <a:dk1>
        <a:srgbClr val="3E2F24"/>
      </a:dk1>
      <a:lt1>
        <a:srgbClr val="FFFFFF"/>
      </a:lt1>
      <a:dk2>
        <a:srgbClr val="8B5E3C"/>
      </a:dk2>
      <a:lt2>
        <a:srgbClr val="F5EFE6"/>
      </a:lt2>
      <a:accent1>
        <a:srgbClr val="A47551"/>
      </a:accent1>
      <a:accent2>
        <a:srgbClr val="C8664F"/>
      </a:accent2>
      <a:accent3>
        <a:srgbClr val="E0B15A"/>
      </a:accent3>
      <a:accent4>
        <a:srgbClr val="9CB380"/>
      </a:accent4>
      <a:accent5>
        <a:srgbClr val="EFE2D0"/>
      </a:accent5>
      <a:accent6>
        <a:srgbClr val="8A7564"/>
      </a:accent6>
      <a:hlink>
        <a:srgbClr val="8B5E3C"/>
      </a:hlink>
      <a:folHlink>
        <a:srgbClr val="A47551"/>
      </a:folHlink>
    </a:clrScheme>
    <a:fontScheme name="WasteWatch Beig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WasteWatch: how it works</dc:title>
  <dc:subject>PptxGenJS Presentation</dc:subject>
  <dc:creator>Yashvi Trivedi</dc:creator>
  <cp:lastModifiedBy>Yashvi Trivedi</cp:lastModifiedBy>
  <cp:revision>1</cp:revision>
  <dcterms:created xsi:type="dcterms:W3CDTF">2026-10-19T08:26:12Z</dcterms:created>
  <dcterms:modified xsi:type="dcterms:W3CDTF">2026-10-19T08:26:12Z</dcterms:modified>
</cp:coreProperties>
</file>